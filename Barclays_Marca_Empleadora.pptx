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diagnóstico de marca empleadora de Barclays a partir de reseñas de Glassdoor. Se indica el encargo, los datos, el método, los resultados y las recomendaciones.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Encargo de RRHH: identificar puntos fuertes y áreas de mejora de Barclays como empleador, comparados con sus competidores. Un problema solo se considera prioritario si Barclays está peor que el mercado. El mensaje central: posición sólida, ventaja que se estrecha, dos frentes prioritarios.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Glassdoor Job Reviews 1 y 2 (Kaggle), fichero Parquet del profesor. Se probó HSBC-Holdings, pero su serie termina en junio de 2021 y sus reseñas están duplicadas con HSBC, por lo que se usó HSBC. La muestra de 2.000 reseñas por empresa (semilla 42) evita que una empresa grande domine el modelo de 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paso se comprueba: marcadores vacíos y ausencia declarada de contras detectados con expresiones regulares validadas en tres rondas; sentimiento con DistilBERT SST-2 como control; BERTopic con un modelo para pros y otro para cons; comparación con balance neto (pros menos cons) y bootstrap.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izquierdo: valoración media con intervalo de confianza del 95 %. Panel derecho: porcentaje de reseñas que recomiendan la empresa. Las diferencias de valoración entre empresas son pequeñas, pero Barclays queda arriba.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Evolución anual de la valoración media. 2018 y 2023 son años parciales. El bache de 2021 se debe a la valoración de los antiguos empleados (3,45 frente a 3,98 en 2020); ningún tema lo acompaña.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de balance neto frente a la media de los peers, con IC 95 % por bootstrap. Verde: ventaja con intervalo por encima de cero. Rojo: desventaja con intervalo por debajo de cero. Gris: sin diferencia concluyente. Compensación crece en los tres periodos.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Matriz de priorización: eje X, peso del tema en los cons de Barclays; eje Y, desventaja frente a los peers; color, rating de quienes se quejan; tamaño, número de señales (desventaja estable, quejas con peor rating, más frecuente en antiguos). Conciliación tiene el mayor gap pero no es concluyente.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de calor por periodos: verde, ventaja de Barclays; rojo, desventaja; asterisco, diferencia significativa. Además, tecnología es el único motivo de salida significativo: 4,6 % de los antiguos empleados de Barclays frente a 2,7 % en los peers.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recomendación enlaza una evidencia del análisis con una acción concreta. Las dos primeras corrigen las áreas de prioridad alta; la tercera protege y comunica la ventaja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Limitaciones: muestra, sesgo de autoselección de Glassdoor, sentimiento binario, años parciales, outliers de BERTopic y categorías definidas manualmente. Próximos pasos para reforzar el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tres ideas para recordar.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731520" y="2011680"/>
            <a:ext cx="7863840" cy="1463040"/>
          </a:xfrm>
          <a:prstGeom prst="rect">
            <a:avLst/>
          </a:prstGeom>
          <a:noFill/>
          <a:ln/>
        </p:spPr>
        <p:txBody>
          <a:bodyPr wrap="square" lIns="0" tIns="0" rIns="0" bIns="0" rtlCol="0" anchor="t"/>
          <a:lstStyle/>
          <a:p>
            <a:pPr indent="0" marL="0">
              <a:spcAft>
                <a:spcPts val="800"/>
              </a:spcAft>
              <a:buNone/>
            </a:pPr>
            <a:r>
              <a:rPr lang="en-US" sz="4400" b="1" dirty="0">
                <a:solidFill>
                  <a:srgbClr val="1F3A4D"/>
                </a:solidFill>
                <a:latin typeface="Calibri" pitchFamily="34" charset="0"/>
                <a:ea typeface="Calibri" pitchFamily="34" charset="-122"/>
                <a:cs typeface="Calibri" pitchFamily="34" charset="-120"/>
              </a:rPr>
              <a:t>Marca empleadora de Barclays</a:t>
            </a:r>
            <a:endParaRPr lang="en-US" sz="4400" dirty="0"/>
          </a:p>
        </p:txBody>
      </p:sp>
      <p:sp>
        <p:nvSpPr>
          <p:cNvPr id="4" name="Text 1"/>
          <p:cNvSpPr txBox="1"/>
          <p:nvPr/>
        </p:nvSpPr>
        <p:spPr>
          <a:xfrm>
            <a:off x="731520" y="3566160"/>
            <a:ext cx="7498080" cy="914400"/>
          </a:xfrm>
          <a:prstGeom prst="rect">
            <a:avLst/>
          </a:prstGeom>
          <a:noFill/>
          <a:ln/>
        </p:spPr>
        <p:txBody>
          <a:bodyPr wrap="square" lIns="0" tIns="0" rIns="0" bIns="0" rtlCol="0" anchor="t"/>
          <a:lstStyle/>
          <a:p>
            <a:pPr indent="0" marL="0">
              <a:spcAft>
                <a:spcPts val="800"/>
              </a:spcAft>
              <a:buNone/>
            </a:pPr>
            <a:r>
              <a:rPr lang="en-US" sz="2000" dirty="0">
                <a:solidFill>
                  <a:srgbClr val="33495A"/>
                </a:solidFill>
                <a:latin typeface="Calibri" pitchFamily="34" charset="0"/>
                <a:ea typeface="Calibri" pitchFamily="34" charset="-122"/>
                <a:cs typeface="Calibri" pitchFamily="34" charset="-120"/>
              </a:rPr>
              <a:t>Diagnóstico con NLP a partir de 10.000 reseñas de Glassdoor frente a cuatro bancos de referencia</a:t>
            </a:r>
            <a:endParaRPr lang="en-US" sz="2000" dirty="0"/>
          </a:p>
        </p:txBody>
      </p:sp>
      <p:sp>
        <p:nvSpPr>
          <p:cNvPr id="5" name="Text 2"/>
          <p:cNvSpPr txBox="1"/>
          <p:nvPr/>
        </p:nvSpPr>
        <p:spPr>
          <a:xfrm>
            <a:off x="731520" y="5120640"/>
            <a:ext cx="7863840" cy="457200"/>
          </a:xfrm>
          <a:prstGeom prst="rect">
            <a:avLst/>
          </a:prstGeom>
          <a:noFill/>
          <a:ln/>
        </p:spPr>
        <p:txBody>
          <a:bodyPr wrap="square" lIns="0" tIns="0" rIns="0" bIns="0" rtlCol="0" anchor="t"/>
          <a:lstStyle/>
          <a:p>
            <a:pPr indent="0" marL="0">
              <a:spcAft>
                <a:spcPts val="800"/>
              </a:spcAft>
              <a:buNone/>
            </a:pPr>
            <a:r>
              <a:rPr lang="en-US" sz="1400" dirty="0">
                <a:solidFill>
                  <a:srgbClr val="2F7F9B"/>
                </a:solidFill>
                <a:latin typeface="Calibri" pitchFamily="34" charset="0"/>
                <a:ea typeface="Calibri" pitchFamily="34" charset="-122"/>
                <a:cs typeface="Calibri" pitchFamily="34" charset="-120"/>
              </a:rPr>
              <a:t>Caso práctico de NLP · Máster Evolve Academy · Marta Parás Gutiérrez</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9692640" cy="914400"/>
          </a:xfrm>
          <a:prstGeom prst="rect">
            <a:avLst/>
          </a:prstGeom>
          <a:noFill/>
          <a:ln/>
        </p:spPr>
        <p:txBody>
          <a:bodyPr wrap="square" lIns="0" tIns="0" rIns="0" bIns="0" rtlCol="0" anchor="t"/>
          <a:lstStyle/>
          <a:p>
            <a:pPr indent="0" marL="0">
              <a:buNone/>
            </a:pPr>
            <a:r>
              <a:rPr lang="en-US" sz="2800" b="1" dirty="0">
                <a:solidFill>
                  <a:srgbClr val="1F3A4D"/>
                </a:solidFill>
                <a:latin typeface="Calibri" pitchFamily="34" charset="0"/>
                <a:ea typeface="Calibri" pitchFamily="34" charset="-122"/>
                <a:cs typeface="Calibri" pitchFamily="34" charset="-120"/>
              </a:rPr>
              <a:t>Barclays parte de una posición sólida; los frentes a corregir son cultura y tecnología</a:t>
            </a:r>
            <a:endParaRPr lang="en-US" sz="2800" dirty="0"/>
          </a:p>
        </p:txBody>
      </p:sp>
      <p:sp>
        <p:nvSpPr>
          <p:cNvPr id="4" name="Shape 1"/>
          <p:cNvSpPr/>
          <p:nvPr/>
        </p:nvSpPr>
        <p:spPr>
          <a:xfrm>
            <a:off x="548640" y="1554480"/>
            <a:ext cx="5394960" cy="4297680"/>
          </a:xfrm>
          <a:prstGeom prst="roundRect">
            <a:avLst>
              <a:gd name="adj" fmla="val 1702"/>
            </a:avLst>
          </a:prstGeom>
          <a:solidFill>
            <a:srgbClr val="FFFFFF"/>
          </a:solidFill>
          <a:ln w="12700">
            <a:solidFill>
              <a:srgbClr val="C9DDE5"/>
            </a:solidFill>
            <a:prstDash val="solid"/>
          </a:ln>
        </p:spPr>
      </p:sp>
      <p:sp>
        <p:nvSpPr>
          <p:cNvPr id="5" name="Shape 2"/>
          <p:cNvSpPr/>
          <p:nvPr/>
        </p:nvSpPr>
        <p:spPr>
          <a:xfrm>
            <a:off x="6217920" y="1554480"/>
            <a:ext cx="5394960" cy="4297680"/>
          </a:xfrm>
          <a:prstGeom prst="roundRect">
            <a:avLst>
              <a:gd name="adj" fmla="val 1702"/>
            </a:avLst>
          </a:prstGeom>
          <a:solidFill>
            <a:srgbClr val="FFFFFF"/>
          </a:solidFill>
          <a:ln w="12700">
            <a:solidFill>
              <a:srgbClr val="C9DDE5"/>
            </a:solidFill>
            <a:prstDash val="solid"/>
          </a:ln>
        </p:spPr>
      </p:sp>
      <p:sp>
        <p:nvSpPr>
          <p:cNvPr id="6" name="Text 3"/>
          <p:cNvSpPr txBox="1"/>
          <p:nvPr/>
        </p:nvSpPr>
        <p:spPr>
          <a:xfrm>
            <a:off x="777240" y="1737360"/>
            <a:ext cx="4937760" cy="365760"/>
          </a:xfrm>
          <a:prstGeom prst="rect">
            <a:avLst/>
          </a:prstGeom>
          <a:noFill/>
          <a:ln/>
        </p:spPr>
        <p:txBody>
          <a:bodyPr wrap="square" lIns="0" tIns="0" rIns="0" bIns="0" rtlCol="0" anchor="t"/>
          <a:lstStyle/>
          <a:p>
            <a:pPr indent="0" marL="0">
              <a:spcAft>
                <a:spcPts val="800"/>
              </a:spcAft>
              <a:buNone/>
            </a:pPr>
            <a:r>
              <a:rPr lang="en-US" sz="2000" b="1" dirty="0">
                <a:solidFill>
                  <a:srgbClr val="2F7F9B"/>
                </a:solidFill>
                <a:latin typeface="Calibri" pitchFamily="34" charset="0"/>
                <a:ea typeface="Calibri" pitchFamily="34" charset="-122"/>
                <a:cs typeface="Calibri" pitchFamily="34" charset="-120"/>
              </a:rPr>
              <a:t>El encargo</a:t>
            </a:r>
            <a:endParaRPr lang="en-US" sz="2000" dirty="0"/>
          </a:p>
        </p:txBody>
      </p:sp>
      <p:sp>
        <p:nvSpPr>
          <p:cNvPr id="7" name="Text 4"/>
          <p:cNvSpPr txBox="1"/>
          <p:nvPr/>
        </p:nvSpPr>
        <p:spPr>
          <a:xfrm>
            <a:off x="777240" y="2194560"/>
            <a:ext cx="4937760" cy="2103120"/>
          </a:xfrm>
          <a:prstGeom prst="rect">
            <a:avLst/>
          </a:prstGeom>
          <a:noFill/>
          <a:ln/>
        </p:spPr>
        <p:txBody>
          <a:bodyPr wrap="square" lIns="0" tIns="0" rIns="0" bIns="0" rtlCol="0" anchor="t"/>
          <a:lstStyle/>
          <a:p>
            <a:pPr indent="0" marL="0">
              <a:spcAft>
                <a:spcPts val="800"/>
              </a:spcAft>
              <a:buNone/>
            </a:pPr>
            <a:r>
              <a:rPr lang="en-US" sz="1600" dirty="0">
                <a:solidFill>
                  <a:srgbClr val="33495A"/>
                </a:solidFill>
                <a:latin typeface="Calibri" pitchFamily="34" charset="0"/>
                <a:ea typeface="Calibri" pitchFamily="34" charset="-122"/>
                <a:cs typeface="Calibri" pitchFamily="34" charset="-120"/>
              </a:rPr>
              <a:t>Identificar, a partir de las reseñas públicas de Glassdoor, los puntos fuertes de Barclays como empleador (útiles para employer branding y selección) y las áreas de mejora que pueden dañar su reputación o provocar salidas, comparándolos con los de sus competidores directos.</a:t>
            </a:r>
            <a:endParaRPr lang="en-US" sz="1600" dirty="0"/>
          </a:p>
        </p:txBody>
      </p:sp>
      <p:sp>
        <p:nvSpPr>
          <p:cNvPr id="8" name="Text 5"/>
          <p:cNvSpPr txBox="1"/>
          <p:nvPr/>
        </p:nvSpPr>
        <p:spPr>
          <a:xfrm>
            <a:off x="777240" y="4480560"/>
            <a:ext cx="4937760" cy="1097280"/>
          </a:xfrm>
          <a:prstGeom prst="rect">
            <a:avLst/>
          </a:prstGeom>
          <a:noFill/>
          <a:ln/>
        </p:spPr>
        <p:txBody>
          <a:bodyPr wrap="square" lIns="0" tIns="0" rIns="0" bIns="0" rtlCol="0" anchor="t"/>
          <a:lstStyle/>
          <a:p>
            <a:pPr indent="0" marL="0">
              <a:spcAft>
                <a:spcPts val="800"/>
              </a:spcAft>
              <a:buNone/>
            </a:pPr>
            <a:r>
              <a:rPr lang="en-US" sz="1600" b="1" dirty="0">
                <a:solidFill>
                  <a:srgbClr val="1F3A4D"/>
                </a:solidFill>
                <a:latin typeface="Calibri" pitchFamily="34" charset="0"/>
                <a:ea typeface="Calibri" pitchFamily="34" charset="-122"/>
                <a:cs typeface="Calibri" pitchFamily="34" charset="-120"/>
              </a:rPr>
              <a:t>Criterio de prioridad: un problema solo es prioritario si Barclays está peor que el mercado.</a:t>
            </a:r>
            <a:endParaRPr lang="en-US" sz="1600" dirty="0"/>
          </a:p>
        </p:txBody>
      </p:sp>
      <p:sp>
        <p:nvSpPr>
          <p:cNvPr id="9" name="Text 6"/>
          <p:cNvSpPr txBox="1"/>
          <p:nvPr/>
        </p:nvSpPr>
        <p:spPr>
          <a:xfrm>
            <a:off x="6446520" y="1737360"/>
            <a:ext cx="4937760" cy="365760"/>
          </a:xfrm>
          <a:prstGeom prst="rect">
            <a:avLst/>
          </a:prstGeom>
          <a:noFill/>
          <a:ln/>
        </p:spPr>
        <p:txBody>
          <a:bodyPr wrap="square" lIns="0" tIns="0" rIns="0" bIns="0" rtlCol="0" anchor="t"/>
          <a:lstStyle/>
          <a:p>
            <a:pPr indent="0" marL="0">
              <a:spcAft>
                <a:spcPts val="800"/>
              </a:spcAft>
              <a:buNone/>
            </a:pPr>
            <a:r>
              <a:rPr lang="en-US" sz="2000" b="1" dirty="0">
                <a:solidFill>
                  <a:srgbClr val="2F7F9B"/>
                </a:solidFill>
                <a:latin typeface="Calibri" pitchFamily="34" charset="0"/>
                <a:ea typeface="Calibri" pitchFamily="34" charset="-122"/>
                <a:cs typeface="Calibri" pitchFamily="34" charset="-120"/>
              </a:rPr>
              <a:t>El mensaje</a:t>
            </a:r>
            <a:endParaRPr lang="en-US" sz="2000" dirty="0"/>
          </a:p>
        </p:txBody>
      </p:sp>
      <p:sp>
        <p:nvSpPr>
          <p:cNvPr id="10" name="Text 7"/>
          <p:cNvSpPr txBox="1"/>
          <p:nvPr/>
        </p:nvSpPr>
        <p:spPr>
          <a:xfrm>
            <a:off x="6446520" y="219456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Barclays tiene la valoración media más alta del grupo (3,89) y ventajas claras en compensación y estabilidad.</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Esa ventaja en valoración se ha estrechado: de unos 0,22 puntos en 2018-19 a 0,07 en 2022-23.</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Cultura y ambiente y tecnología y sistemas son las áreas de prioridad alta.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9692640" cy="914400"/>
          </a:xfrm>
          <a:prstGeom prst="rect">
            <a:avLst/>
          </a:prstGeom>
          <a:noFill/>
          <a:ln/>
        </p:spPr>
        <p:txBody>
          <a:bodyPr wrap="square" lIns="0" tIns="0" rIns="0" bIns="0" rtlCol="0" anchor="t"/>
          <a:lstStyle/>
          <a:p>
            <a:pPr indent="0" marL="0">
              <a:buNone/>
            </a:pPr>
            <a:r>
              <a:rPr lang="en-US" sz="2800" b="1" dirty="0">
                <a:solidFill>
                  <a:srgbClr val="1F3A4D"/>
                </a:solidFill>
                <a:latin typeface="Calibri" pitchFamily="34" charset="0"/>
                <a:ea typeface="Calibri" pitchFamily="34" charset="-122"/>
                <a:cs typeface="Calibri" pitchFamily="34" charset="-120"/>
              </a:rPr>
              <a:t>Se analizan 10.000 reseñas de cinco bancos entre 2018 y 2023</a:t>
            </a:r>
            <a:endParaRPr lang="en-US" sz="2800" dirty="0"/>
          </a:p>
        </p:txBody>
      </p:sp>
      <p:sp>
        <p:nvSpPr>
          <p:cNvPr id="4" name="Shape 1"/>
          <p:cNvSpPr/>
          <p:nvPr/>
        </p:nvSpPr>
        <p:spPr>
          <a:xfrm>
            <a:off x="548640" y="1554480"/>
            <a:ext cx="2651760" cy="1234440"/>
          </a:xfrm>
          <a:prstGeom prst="roundRect">
            <a:avLst>
              <a:gd name="adj" fmla="val 5926"/>
            </a:avLst>
          </a:prstGeom>
          <a:solidFill>
            <a:srgbClr val="FFFFFF"/>
          </a:solidFill>
          <a:ln w="12700">
            <a:solidFill>
              <a:srgbClr val="C9DDE5"/>
            </a:solidFill>
            <a:prstDash val="solid"/>
          </a:ln>
        </p:spPr>
      </p:sp>
      <p:sp>
        <p:nvSpPr>
          <p:cNvPr id="5" name="Text 2"/>
          <p:cNvSpPr txBox="1"/>
          <p:nvPr/>
        </p:nvSpPr>
        <p:spPr>
          <a:xfrm>
            <a:off x="685800" y="1664208"/>
            <a:ext cx="2377440" cy="594360"/>
          </a:xfrm>
          <a:prstGeom prst="rect">
            <a:avLst/>
          </a:prstGeom>
          <a:noFill/>
          <a:ln/>
        </p:spPr>
        <p:txBody>
          <a:bodyPr wrap="square" lIns="0" tIns="0" rIns="0" bIns="0" rtlCol="0" anchor="t"/>
          <a:lstStyle/>
          <a:p>
            <a:pPr indent="0" marL="0">
              <a:buNone/>
            </a:pPr>
            <a:r>
              <a:rPr lang="en-US" sz="3000" b="1" dirty="0">
                <a:solidFill>
                  <a:srgbClr val="2F7F9B"/>
                </a:solidFill>
                <a:latin typeface="Calibri" pitchFamily="34" charset="0"/>
                <a:ea typeface="Calibri" pitchFamily="34" charset="-122"/>
                <a:cs typeface="Calibri" pitchFamily="34" charset="-120"/>
              </a:rPr>
              <a:t>38.724</a:t>
            </a:r>
            <a:endParaRPr lang="en-US" sz="3000" dirty="0"/>
          </a:p>
        </p:txBody>
      </p:sp>
      <p:sp>
        <p:nvSpPr>
          <p:cNvPr id="6" name="Text 3"/>
          <p:cNvSpPr txBox="1"/>
          <p:nvPr/>
        </p:nvSpPr>
        <p:spPr>
          <a:xfrm>
            <a:off x="685800" y="2267712"/>
            <a:ext cx="2377440" cy="475488"/>
          </a:xfrm>
          <a:prstGeom prst="rect">
            <a:avLst/>
          </a:prstGeom>
          <a:noFill/>
          <a:ln/>
        </p:spPr>
        <p:txBody>
          <a:bodyPr wrap="square" lIns="0" tIns="0" rIns="0" bIns="0" rtlCol="0" anchor="t"/>
          <a:lstStyle/>
          <a:p>
            <a:pPr indent="0" marL="0">
              <a:buNone/>
            </a:pPr>
            <a:r>
              <a:rPr lang="en-US" sz="1300" dirty="0">
                <a:solidFill>
                  <a:srgbClr val="33495A"/>
                </a:solidFill>
                <a:latin typeface="Calibri" pitchFamily="34" charset="0"/>
                <a:ea typeface="Calibri" pitchFamily="34" charset="-122"/>
                <a:cs typeface="Calibri" pitchFamily="34" charset="-120"/>
              </a:rPr>
              <a:t>reseñas disponibles de las cinco empresas</a:t>
            </a:r>
            <a:endParaRPr lang="en-US" sz="1300" dirty="0"/>
          </a:p>
        </p:txBody>
      </p:sp>
      <p:sp>
        <p:nvSpPr>
          <p:cNvPr id="7" name="Shape 4"/>
          <p:cNvSpPr/>
          <p:nvPr/>
        </p:nvSpPr>
        <p:spPr>
          <a:xfrm>
            <a:off x="3383280" y="1554480"/>
            <a:ext cx="2651760" cy="1234440"/>
          </a:xfrm>
          <a:prstGeom prst="roundRect">
            <a:avLst>
              <a:gd name="adj" fmla="val 5926"/>
            </a:avLst>
          </a:prstGeom>
          <a:solidFill>
            <a:srgbClr val="FFFFFF"/>
          </a:solidFill>
          <a:ln w="12700">
            <a:solidFill>
              <a:srgbClr val="C9DDE5"/>
            </a:solidFill>
            <a:prstDash val="solid"/>
          </a:ln>
        </p:spPr>
      </p:sp>
      <p:sp>
        <p:nvSpPr>
          <p:cNvPr id="8" name="Text 5"/>
          <p:cNvSpPr txBox="1"/>
          <p:nvPr/>
        </p:nvSpPr>
        <p:spPr>
          <a:xfrm>
            <a:off x="3520440" y="1664208"/>
            <a:ext cx="2377440" cy="594360"/>
          </a:xfrm>
          <a:prstGeom prst="rect">
            <a:avLst/>
          </a:prstGeom>
          <a:noFill/>
          <a:ln/>
        </p:spPr>
        <p:txBody>
          <a:bodyPr wrap="square" lIns="0" tIns="0" rIns="0" bIns="0" rtlCol="0" anchor="t"/>
          <a:lstStyle/>
          <a:p>
            <a:pPr indent="0" marL="0">
              <a:buNone/>
            </a:pPr>
            <a:r>
              <a:rPr lang="en-US" sz="3000" b="1" dirty="0">
                <a:solidFill>
                  <a:srgbClr val="2F7F9B"/>
                </a:solidFill>
                <a:latin typeface="Calibri" pitchFamily="34" charset="0"/>
                <a:ea typeface="Calibri" pitchFamily="34" charset="-122"/>
                <a:cs typeface="Calibri" pitchFamily="34" charset="-120"/>
              </a:rPr>
              <a:t>2.000</a:t>
            </a:r>
            <a:endParaRPr lang="en-US" sz="3000" dirty="0"/>
          </a:p>
        </p:txBody>
      </p:sp>
      <p:sp>
        <p:nvSpPr>
          <p:cNvPr id="9" name="Text 6"/>
          <p:cNvSpPr txBox="1"/>
          <p:nvPr/>
        </p:nvSpPr>
        <p:spPr>
          <a:xfrm>
            <a:off x="3520440" y="2267712"/>
            <a:ext cx="2377440" cy="475488"/>
          </a:xfrm>
          <a:prstGeom prst="rect">
            <a:avLst/>
          </a:prstGeom>
          <a:noFill/>
          <a:ln/>
        </p:spPr>
        <p:txBody>
          <a:bodyPr wrap="square" lIns="0" tIns="0" rIns="0" bIns="0" rtlCol="0" anchor="t"/>
          <a:lstStyle/>
          <a:p>
            <a:pPr indent="0" marL="0">
              <a:buNone/>
            </a:pPr>
            <a:r>
              <a:rPr lang="en-US" sz="1300" dirty="0">
                <a:solidFill>
                  <a:srgbClr val="33495A"/>
                </a:solidFill>
                <a:latin typeface="Calibri" pitchFamily="34" charset="0"/>
                <a:ea typeface="Calibri" pitchFamily="34" charset="-122"/>
                <a:cs typeface="Calibri" pitchFamily="34" charset="-120"/>
              </a:rPr>
              <a:t>reseñas por empresa en la muestra (10.000 en total)</a:t>
            </a:r>
            <a:endParaRPr lang="en-US" sz="1300" dirty="0"/>
          </a:p>
        </p:txBody>
      </p:sp>
      <p:sp>
        <p:nvSpPr>
          <p:cNvPr id="10" name="Shape 7"/>
          <p:cNvSpPr/>
          <p:nvPr/>
        </p:nvSpPr>
        <p:spPr>
          <a:xfrm>
            <a:off x="6217920" y="1554480"/>
            <a:ext cx="2651760" cy="1234440"/>
          </a:xfrm>
          <a:prstGeom prst="roundRect">
            <a:avLst>
              <a:gd name="adj" fmla="val 5926"/>
            </a:avLst>
          </a:prstGeom>
          <a:solidFill>
            <a:srgbClr val="FFFFFF"/>
          </a:solidFill>
          <a:ln w="12700">
            <a:solidFill>
              <a:srgbClr val="C9DDE5"/>
            </a:solidFill>
            <a:prstDash val="solid"/>
          </a:ln>
        </p:spPr>
      </p:sp>
      <p:sp>
        <p:nvSpPr>
          <p:cNvPr id="11" name="Text 8"/>
          <p:cNvSpPr txBox="1"/>
          <p:nvPr/>
        </p:nvSpPr>
        <p:spPr>
          <a:xfrm>
            <a:off x="6355080" y="1664208"/>
            <a:ext cx="2377440" cy="594360"/>
          </a:xfrm>
          <a:prstGeom prst="rect">
            <a:avLst/>
          </a:prstGeom>
          <a:noFill/>
          <a:ln/>
        </p:spPr>
        <p:txBody>
          <a:bodyPr wrap="square" lIns="0" tIns="0" rIns="0" bIns="0" rtlCol="0" anchor="t"/>
          <a:lstStyle/>
          <a:p>
            <a:pPr indent="0" marL="0">
              <a:buNone/>
            </a:pPr>
            <a:r>
              <a:rPr lang="en-US" sz="3000" b="1" dirty="0">
                <a:solidFill>
                  <a:srgbClr val="2F7F9B"/>
                </a:solidFill>
                <a:latin typeface="Calibri" pitchFamily="34" charset="0"/>
                <a:ea typeface="Calibri" pitchFamily="34" charset="-122"/>
                <a:cs typeface="Calibri" pitchFamily="34" charset="-120"/>
              </a:rPr>
              <a:t>2018–2023</a:t>
            </a:r>
            <a:endParaRPr lang="en-US" sz="3000" dirty="0"/>
          </a:p>
        </p:txBody>
      </p:sp>
      <p:sp>
        <p:nvSpPr>
          <p:cNvPr id="12" name="Text 9"/>
          <p:cNvSpPr txBox="1"/>
          <p:nvPr/>
        </p:nvSpPr>
        <p:spPr>
          <a:xfrm>
            <a:off x="6355080" y="2267712"/>
            <a:ext cx="2377440" cy="475488"/>
          </a:xfrm>
          <a:prstGeom prst="rect">
            <a:avLst/>
          </a:prstGeom>
          <a:noFill/>
          <a:ln/>
        </p:spPr>
        <p:txBody>
          <a:bodyPr wrap="square" lIns="0" tIns="0" rIns="0" bIns="0" rtlCol="0" anchor="t"/>
          <a:lstStyle/>
          <a:p>
            <a:pPr indent="0" marL="0">
              <a:buNone/>
            </a:pPr>
            <a:r>
              <a:rPr lang="en-US" sz="1300" dirty="0">
                <a:solidFill>
                  <a:srgbClr val="33495A"/>
                </a:solidFill>
                <a:latin typeface="Calibri" pitchFamily="34" charset="0"/>
                <a:ea typeface="Calibri" pitchFamily="34" charset="-122"/>
                <a:cs typeface="Calibri" pitchFamily="34" charset="-120"/>
              </a:rPr>
              <a:t>de 27/07/2018 a 18/04/2023 (2018 y 2023 son años parciales)</a:t>
            </a:r>
            <a:endParaRPr lang="en-US" sz="1300" dirty="0"/>
          </a:p>
        </p:txBody>
      </p:sp>
      <p:sp>
        <p:nvSpPr>
          <p:cNvPr id="13" name="Shape 10"/>
          <p:cNvSpPr/>
          <p:nvPr/>
        </p:nvSpPr>
        <p:spPr>
          <a:xfrm>
            <a:off x="9052560" y="1554480"/>
            <a:ext cx="2560320" cy="1234440"/>
          </a:xfrm>
          <a:prstGeom prst="roundRect">
            <a:avLst>
              <a:gd name="adj" fmla="val 5926"/>
            </a:avLst>
          </a:prstGeom>
          <a:solidFill>
            <a:srgbClr val="FFFFFF"/>
          </a:solidFill>
          <a:ln w="12700">
            <a:solidFill>
              <a:srgbClr val="C9DDE5"/>
            </a:solidFill>
            <a:prstDash val="solid"/>
          </a:ln>
        </p:spPr>
      </p:sp>
      <p:sp>
        <p:nvSpPr>
          <p:cNvPr id="14" name="Text 11"/>
          <p:cNvSpPr txBox="1"/>
          <p:nvPr/>
        </p:nvSpPr>
        <p:spPr>
          <a:xfrm>
            <a:off x="9189720" y="1664208"/>
            <a:ext cx="2286000" cy="594360"/>
          </a:xfrm>
          <a:prstGeom prst="rect">
            <a:avLst/>
          </a:prstGeom>
          <a:noFill/>
          <a:ln/>
        </p:spPr>
        <p:txBody>
          <a:bodyPr wrap="square" lIns="0" tIns="0" rIns="0" bIns="0" rtlCol="0" anchor="t"/>
          <a:lstStyle/>
          <a:p>
            <a:pPr indent="0" marL="0">
              <a:buNone/>
            </a:pPr>
            <a:r>
              <a:rPr lang="en-US" sz="3000" b="1" dirty="0">
                <a:solidFill>
                  <a:srgbClr val="2F7F9B"/>
                </a:solidFill>
                <a:latin typeface="Calibri" pitchFamily="34" charset="0"/>
                <a:ea typeface="Calibri" pitchFamily="34" charset="-122"/>
                <a:cs typeface="Calibri" pitchFamily="34" charset="-120"/>
              </a:rPr>
              <a:t>5 bancos</a:t>
            </a:r>
            <a:endParaRPr lang="en-US" sz="3000" dirty="0"/>
          </a:p>
        </p:txBody>
      </p:sp>
      <p:sp>
        <p:nvSpPr>
          <p:cNvPr id="15" name="Text 12"/>
          <p:cNvSpPr txBox="1"/>
          <p:nvPr/>
        </p:nvSpPr>
        <p:spPr>
          <a:xfrm>
            <a:off x="9189720" y="2267712"/>
            <a:ext cx="2286000" cy="475488"/>
          </a:xfrm>
          <a:prstGeom prst="rect">
            <a:avLst/>
          </a:prstGeom>
          <a:noFill/>
          <a:ln/>
        </p:spPr>
        <p:txBody>
          <a:bodyPr wrap="square" lIns="0" tIns="0" rIns="0" bIns="0" rtlCol="0" anchor="t"/>
          <a:lstStyle/>
          <a:p>
            <a:pPr indent="0" marL="0">
              <a:buNone/>
            </a:pPr>
            <a:r>
              <a:rPr lang="en-US" sz="1300" dirty="0">
                <a:solidFill>
                  <a:srgbClr val="33495A"/>
                </a:solidFill>
                <a:latin typeface="Calibri" pitchFamily="34" charset="0"/>
                <a:ea typeface="Calibri" pitchFamily="34" charset="-122"/>
                <a:cs typeface="Calibri" pitchFamily="34" charset="-120"/>
              </a:rPr>
              <a:t>Barclays y cuatro peers del sector Banca</a:t>
            </a:r>
            <a:endParaRPr lang="en-US" sz="1300" dirty="0"/>
          </a:p>
        </p:txBody>
      </p:sp>
      <p:sp>
        <p:nvSpPr>
          <p:cNvPr id="16" name="Shape 13"/>
          <p:cNvSpPr/>
          <p:nvPr/>
        </p:nvSpPr>
        <p:spPr>
          <a:xfrm>
            <a:off x="548640" y="3017520"/>
            <a:ext cx="11064240" cy="2834640"/>
          </a:xfrm>
          <a:prstGeom prst="roundRect">
            <a:avLst>
              <a:gd name="adj" fmla="val 2581"/>
            </a:avLst>
          </a:prstGeom>
          <a:solidFill>
            <a:srgbClr val="FFFFFF"/>
          </a:solidFill>
          <a:ln w="12700">
            <a:solidFill>
              <a:srgbClr val="C9DDE5"/>
            </a:solidFill>
            <a:prstDash val="solid"/>
          </a:ln>
        </p:spPr>
      </p:sp>
      <p:sp>
        <p:nvSpPr>
          <p:cNvPr id="17" name="Text 14"/>
          <p:cNvSpPr txBox="1"/>
          <p:nvPr/>
        </p:nvSpPr>
        <p:spPr>
          <a:xfrm>
            <a:off x="777240" y="3200400"/>
            <a:ext cx="10607040" cy="731520"/>
          </a:xfrm>
          <a:prstGeom prst="rect">
            <a:avLst/>
          </a:prstGeom>
          <a:noFill/>
          <a:ln/>
        </p:spPr>
        <p:txBody>
          <a:bodyPr wrap="square" lIns="0" tIns="0" rIns="0" bIns="0" rtlCol="0" anchor="t"/>
          <a:lstStyle/>
          <a:p>
            <a:pPr indent="0" marL="0">
              <a:spcAft>
                <a:spcPts val="800"/>
              </a:spcAft>
              <a:buNone/>
            </a:pPr>
            <a:r>
              <a:rPr lang="en-US" sz="1700" dirty="0">
                <a:solidFill>
                  <a:srgbClr val="33495A"/>
                </a:solidFill>
                <a:latin typeface="Calibri" pitchFamily="34" charset="0"/>
                <a:ea typeface="Calibri" pitchFamily="34" charset="-122"/>
                <a:cs typeface="Calibri" pitchFamily="34" charset="-120"/>
              </a:rPr>
              <a:t>Barclays se compara con HSBC, Standard-Chartered-Bank, NatWest-Group y Deutsche-Bank, todos con volumen suficiente de reseñas.</a:t>
            </a:r>
            <a:endParaRPr lang="en-US" sz="1700" dirty="0"/>
          </a:p>
        </p:txBody>
      </p:sp>
      <p:sp>
        <p:nvSpPr>
          <p:cNvPr id="18" name="Text 15"/>
          <p:cNvSpPr txBox="1"/>
          <p:nvPr/>
        </p:nvSpPr>
        <p:spPr>
          <a:xfrm>
            <a:off x="777240" y="3977640"/>
            <a:ext cx="10607040" cy="822960"/>
          </a:xfrm>
          <a:prstGeom prst="rect">
            <a:avLst/>
          </a:prstGeom>
          <a:noFill/>
          <a:ln/>
        </p:spPr>
        <p:txBody>
          <a:bodyPr wrap="square" lIns="0" tIns="0" rIns="0" bIns="0" rtlCol="0" anchor="t"/>
          <a:lstStyle/>
          <a:p>
            <a:pPr indent="0" marL="0">
              <a:spcAft>
                <a:spcPts val="800"/>
              </a:spcAft>
              <a:buNone/>
            </a:pPr>
            <a:r>
              <a:rPr lang="en-US" sz="1700" dirty="0">
                <a:solidFill>
                  <a:srgbClr val="33495A"/>
                </a:solidFill>
                <a:latin typeface="Calibri" pitchFamily="34" charset="0"/>
                <a:ea typeface="Calibri" pitchFamily="34" charset="-122"/>
                <a:cs typeface="Calibri" pitchFamily="34" charset="-120"/>
              </a:rPr>
              <a:t>Se descartó HSBC-Holdings: su serie termina en junio de 2021 y 6.323 de sus reseñas son idénticas a las de HSBC, de modo que se usa HSBC, con la serie completa.</a:t>
            </a:r>
            <a:endParaRPr lang="en-US" sz="1700" dirty="0"/>
          </a:p>
        </p:txBody>
      </p:sp>
      <p:sp>
        <p:nvSpPr>
          <p:cNvPr id="19" name="Text 16"/>
          <p:cNvSpPr txBox="1"/>
          <p:nvPr/>
        </p:nvSpPr>
        <p:spPr>
          <a:xfrm>
            <a:off x="777240" y="4846320"/>
            <a:ext cx="10607040" cy="822960"/>
          </a:xfrm>
          <a:prstGeom prst="rect">
            <a:avLst/>
          </a:prstGeom>
          <a:noFill/>
          <a:ln/>
        </p:spPr>
        <p:txBody>
          <a:bodyPr wrap="square" lIns="0" tIns="0" rIns="0" bIns="0" rtlCol="0" anchor="t"/>
          <a:lstStyle/>
          <a:p>
            <a:pPr indent="0" marL="0">
              <a:spcAft>
                <a:spcPts val="800"/>
              </a:spcAft>
              <a:buNone/>
            </a:pPr>
            <a:r>
              <a:rPr lang="en-US" sz="1700" dirty="0">
                <a:solidFill>
                  <a:srgbClr val="33495A"/>
                </a:solidFill>
                <a:latin typeface="Calibri" pitchFamily="34" charset="0"/>
                <a:ea typeface="Calibri" pitchFamily="34" charset="-122"/>
                <a:cs typeface="Calibri" pitchFamily="34" charset="-120"/>
              </a:rPr>
              <a:t>Cada reseña tiene una parte de pros, una de cons, la valoración global, si recomienda la empresa y si es empleado actual o antiguo.</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9692640" cy="914400"/>
          </a:xfrm>
          <a:prstGeom prst="rect">
            <a:avLst/>
          </a:prstGeom>
          <a:noFill/>
          <a:ln/>
        </p:spPr>
        <p:txBody>
          <a:bodyPr wrap="square" lIns="0" tIns="0" rIns="0" bIns="0" rtlCol="0" anchor="t"/>
          <a:lstStyle/>
          <a:p>
            <a:pPr indent="0" marL="0">
              <a:buNone/>
            </a:pPr>
            <a:r>
              <a:rPr lang="en-US" sz="2800" b="1" dirty="0">
                <a:solidFill>
                  <a:srgbClr val="1F3A4D"/>
                </a:solidFill>
                <a:latin typeface="Calibri" pitchFamily="34" charset="0"/>
                <a:ea typeface="Calibri" pitchFamily="34" charset="-122"/>
                <a:cs typeface="Calibri" pitchFamily="34" charset="-120"/>
              </a:rPr>
              <a:t>El método combina control de calidad, sentimiento, temas y comparación estadística</a:t>
            </a:r>
            <a:endParaRPr lang="en-US" sz="2800" dirty="0"/>
          </a:p>
        </p:txBody>
      </p:sp>
      <p:sp>
        <p:nvSpPr>
          <p:cNvPr id="4" name="Shape 1"/>
          <p:cNvSpPr/>
          <p:nvPr/>
        </p:nvSpPr>
        <p:spPr>
          <a:xfrm>
            <a:off x="548640" y="1645920"/>
            <a:ext cx="2651760" cy="4114800"/>
          </a:xfrm>
          <a:prstGeom prst="roundRect">
            <a:avLst>
              <a:gd name="adj" fmla="val 2759"/>
            </a:avLst>
          </a:prstGeom>
          <a:solidFill>
            <a:srgbClr val="FFFFFF"/>
          </a:solidFill>
          <a:ln w="12700">
            <a:solidFill>
              <a:srgbClr val="C9DDE5"/>
            </a:solidFill>
            <a:prstDash val="solid"/>
          </a:ln>
        </p:spPr>
      </p:sp>
      <p:sp>
        <p:nvSpPr>
          <p:cNvPr id="5" name="Shape 2"/>
          <p:cNvSpPr/>
          <p:nvPr/>
        </p:nvSpPr>
        <p:spPr>
          <a:xfrm>
            <a:off x="731520" y="1828800"/>
            <a:ext cx="548640" cy="548640"/>
          </a:xfrm>
          <a:prstGeom prst="ellipse">
            <a:avLst/>
          </a:prstGeom>
          <a:solidFill>
            <a:srgbClr val="2F7F9B"/>
          </a:solidFill>
          <a:ln w="12700">
            <a:solidFill>
              <a:srgbClr val="2F7F9B"/>
            </a:solidFill>
            <a:prstDash val="solid"/>
          </a:ln>
        </p:spPr>
      </p:sp>
      <p:sp>
        <p:nvSpPr>
          <p:cNvPr id="6" name="Text 3"/>
          <p:cNvSpPr txBox="1"/>
          <p:nvPr/>
        </p:nvSpPr>
        <p:spPr>
          <a:xfrm>
            <a:off x="731520"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731520" y="2560320"/>
            <a:ext cx="2286000" cy="457200"/>
          </a:xfrm>
          <a:prstGeom prst="rect">
            <a:avLst/>
          </a:prstGeom>
          <a:noFill/>
          <a:ln/>
        </p:spPr>
        <p:txBody>
          <a:bodyPr wrap="square" lIns="0" tIns="0" rIns="0" bIns="0" rtlCol="0" anchor="t"/>
          <a:lstStyle/>
          <a:p>
            <a:pPr indent="0" marL="0">
              <a:spcAft>
                <a:spcPts val="800"/>
              </a:spcAft>
              <a:buNone/>
            </a:pPr>
            <a:r>
              <a:rPr lang="en-US" sz="1900" b="1" dirty="0">
                <a:solidFill>
                  <a:srgbClr val="1F3A4D"/>
                </a:solidFill>
                <a:latin typeface="Calibri" pitchFamily="34" charset="0"/>
                <a:ea typeface="Calibri" pitchFamily="34" charset="-122"/>
                <a:cs typeface="Calibri" pitchFamily="34" charset="-120"/>
              </a:rPr>
              <a:t>Preparación y control</a:t>
            </a:r>
            <a:endParaRPr lang="en-US" sz="1900" dirty="0"/>
          </a:p>
        </p:txBody>
      </p:sp>
      <p:sp>
        <p:nvSpPr>
          <p:cNvPr id="8" name="Text 5"/>
          <p:cNvSpPr txBox="1"/>
          <p:nvPr/>
        </p:nvSpPr>
        <p:spPr>
          <a:xfrm>
            <a:off x="731520" y="3108960"/>
            <a:ext cx="2286000" cy="2560320"/>
          </a:xfrm>
          <a:prstGeom prst="rect">
            <a:avLst/>
          </a:prstGeom>
          <a:noFill/>
          <a:ln/>
        </p:spPr>
        <p:txBody>
          <a:bodyPr wrap="square" lIns="0" tIns="0" rIns="0" bIns="0" rtlCol="0" anchor="t"/>
          <a:lstStyle/>
          <a:p>
            <a:pPr indent="0" marL="0">
              <a:spcAft>
                <a:spcPts val="800"/>
              </a:spcAft>
              <a:buNone/>
            </a:pPr>
            <a:r>
              <a:rPr lang="en-US" sz="1500" dirty="0">
                <a:solidFill>
                  <a:srgbClr val="33495A"/>
                </a:solidFill>
                <a:latin typeface="Calibri" pitchFamily="34" charset="0"/>
                <a:ea typeface="Calibri" pitchFamily="34" charset="-122"/>
                <a:cs typeface="Calibri" pitchFamily="34" charset="-120"/>
              </a:rPr>
              <a:t>Variables derivadas (situación, antigüedad, recomendación), marcadores vacíos y detección con regex de la ausencia declarada de contras.</a:t>
            </a:r>
            <a:endParaRPr lang="en-US" sz="1500" dirty="0"/>
          </a:p>
        </p:txBody>
      </p:sp>
      <p:sp>
        <p:nvSpPr>
          <p:cNvPr id="9" name="Shape 6"/>
          <p:cNvSpPr/>
          <p:nvPr/>
        </p:nvSpPr>
        <p:spPr>
          <a:xfrm>
            <a:off x="3364992" y="1645920"/>
            <a:ext cx="2651760" cy="4114800"/>
          </a:xfrm>
          <a:prstGeom prst="roundRect">
            <a:avLst>
              <a:gd name="adj" fmla="val 2759"/>
            </a:avLst>
          </a:prstGeom>
          <a:solidFill>
            <a:srgbClr val="FFFFFF"/>
          </a:solidFill>
          <a:ln w="12700">
            <a:solidFill>
              <a:srgbClr val="C9DDE5"/>
            </a:solidFill>
            <a:prstDash val="solid"/>
          </a:ln>
        </p:spPr>
      </p:sp>
      <p:sp>
        <p:nvSpPr>
          <p:cNvPr id="10" name="Shape 7"/>
          <p:cNvSpPr/>
          <p:nvPr/>
        </p:nvSpPr>
        <p:spPr>
          <a:xfrm>
            <a:off x="3547872" y="1828800"/>
            <a:ext cx="548640" cy="548640"/>
          </a:xfrm>
          <a:prstGeom prst="ellipse">
            <a:avLst/>
          </a:prstGeom>
          <a:solidFill>
            <a:srgbClr val="2F7F9B"/>
          </a:solidFill>
          <a:ln w="12700">
            <a:solidFill>
              <a:srgbClr val="2F7F9B"/>
            </a:solidFill>
            <a:prstDash val="solid"/>
          </a:ln>
        </p:spPr>
      </p:sp>
      <p:sp>
        <p:nvSpPr>
          <p:cNvPr id="11" name="Text 8"/>
          <p:cNvSpPr txBox="1"/>
          <p:nvPr/>
        </p:nvSpPr>
        <p:spPr>
          <a:xfrm>
            <a:off x="3547872"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3547872" y="2560320"/>
            <a:ext cx="2286000" cy="457200"/>
          </a:xfrm>
          <a:prstGeom prst="rect">
            <a:avLst/>
          </a:prstGeom>
          <a:noFill/>
          <a:ln/>
        </p:spPr>
        <p:txBody>
          <a:bodyPr wrap="square" lIns="0" tIns="0" rIns="0" bIns="0" rtlCol="0" anchor="t"/>
          <a:lstStyle/>
          <a:p>
            <a:pPr indent="0" marL="0">
              <a:spcAft>
                <a:spcPts val="800"/>
              </a:spcAft>
              <a:buNone/>
            </a:pPr>
            <a:r>
              <a:rPr lang="en-US" sz="1900" b="1" dirty="0">
                <a:solidFill>
                  <a:srgbClr val="1F3A4D"/>
                </a:solidFill>
                <a:latin typeface="Calibri" pitchFamily="34" charset="0"/>
                <a:ea typeface="Calibri" pitchFamily="34" charset="-122"/>
                <a:cs typeface="Calibri" pitchFamily="34" charset="-120"/>
              </a:rPr>
              <a:t>Sentimiento</a:t>
            </a:r>
            <a:endParaRPr lang="en-US" sz="1900" dirty="0"/>
          </a:p>
        </p:txBody>
      </p:sp>
      <p:sp>
        <p:nvSpPr>
          <p:cNvPr id="13" name="Text 10"/>
          <p:cNvSpPr txBox="1"/>
          <p:nvPr/>
        </p:nvSpPr>
        <p:spPr>
          <a:xfrm>
            <a:off x="3547872" y="3108960"/>
            <a:ext cx="2286000" cy="2560320"/>
          </a:xfrm>
          <a:prstGeom prst="rect">
            <a:avLst/>
          </a:prstGeom>
          <a:noFill/>
          <a:ln/>
        </p:spPr>
        <p:txBody>
          <a:bodyPr wrap="square" lIns="0" tIns="0" rIns="0" bIns="0" rtlCol="0" anchor="t"/>
          <a:lstStyle/>
          <a:p>
            <a:pPr indent="0" marL="0">
              <a:spcAft>
                <a:spcPts val="800"/>
              </a:spcAft>
              <a:buNone/>
            </a:pPr>
            <a:r>
              <a:rPr lang="en-US" sz="1500" dirty="0">
                <a:solidFill>
                  <a:srgbClr val="33495A"/>
                </a:solidFill>
                <a:latin typeface="Calibri" pitchFamily="34" charset="0"/>
                <a:ea typeface="Calibri" pitchFamily="34" charset="-122"/>
                <a:cs typeface="Calibri" pitchFamily="34" charset="-120"/>
              </a:rPr>
              <a:t>DistilBERT (SST-2) como control: el 93,3 % de los pros es positivo y el 85,3 % de los cons, negativo.</a:t>
            </a:r>
            <a:endParaRPr lang="en-US" sz="1500" dirty="0"/>
          </a:p>
        </p:txBody>
      </p:sp>
      <p:sp>
        <p:nvSpPr>
          <p:cNvPr id="14" name="Shape 11"/>
          <p:cNvSpPr/>
          <p:nvPr/>
        </p:nvSpPr>
        <p:spPr>
          <a:xfrm>
            <a:off x="6181344" y="1645920"/>
            <a:ext cx="2651760" cy="4114800"/>
          </a:xfrm>
          <a:prstGeom prst="roundRect">
            <a:avLst>
              <a:gd name="adj" fmla="val 2759"/>
            </a:avLst>
          </a:prstGeom>
          <a:solidFill>
            <a:srgbClr val="FFFFFF"/>
          </a:solidFill>
          <a:ln w="12700">
            <a:solidFill>
              <a:srgbClr val="C9DDE5"/>
            </a:solidFill>
            <a:prstDash val="solid"/>
          </a:ln>
        </p:spPr>
      </p:sp>
      <p:sp>
        <p:nvSpPr>
          <p:cNvPr id="15" name="Shape 12"/>
          <p:cNvSpPr/>
          <p:nvPr/>
        </p:nvSpPr>
        <p:spPr>
          <a:xfrm>
            <a:off x="6364224" y="1828800"/>
            <a:ext cx="548640" cy="548640"/>
          </a:xfrm>
          <a:prstGeom prst="ellipse">
            <a:avLst/>
          </a:prstGeom>
          <a:solidFill>
            <a:srgbClr val="2F7F9B"/>
          </a:solidFill>
          <a:ln w="12700">
            <a:solidFill>
              <a:srgbClr val="2F7F9B"/>
            </a:solidFill>
            <a:prstDash val="solid"/>
          </a:ln>
        </p:spPr>
      </p:sp>
      <p:sp>
        <p:nvSpPr>
          <p:cNvPr id="16" name="Text 13"/>
          <p:cNvSpPr txBox="1"/>
          <p:nvPr/>
        </p:nvSpPr>
        <p:spPr>
          <a:xfrm>
            <a:off x="6364224"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4"/>
          <p:cNvSpPr txBox="1"/>
          <p:nvPr/>
        </p:nvSpPr>
        <p:spPr>
          <a:xfrm>
            <a:off x="6364224" y="2560320"/>
            <a:ext cx="2286000" cy="457200"/>
          </a:xfrm>
          <a:prstGeom prst="rect">
            <a:avLst/>
          </a:prstGeom>
          <a:noFill/>
          <a:ln/>
        </p:spPr>
        <p:txBody>
          <a:bodyPr wrap="square" lIns="0" tIns="0" rIns="0" bIns="0" rtlCol="0" anchor="t"/>
          <a:lstStyle/>
          <a:p>
            <a:pPr indent="0" marL="0">
              <a:spcAft>
                <a:spcPts val="800"/>
              </a:spcAft>
              <a:buNone/>
            </a:pPr>
            <a:r>
              <a:rPr lang="en-US" sz="1900" b="1" dirty="0">
                <a:solidFill>
                  <a:srgbClr val="1F3A4D"/>
                </a:solidFill>
                <a:latin typeface="Calibri" pitchFamily="34" charset="0"/>
                <a:ea typeface="Calibri" pitchFamily="34" charset="-122"/>
                <a:cs typeface="Calibri" pitchFamily="34" charset="-120"/>
              </a:rPr>
              <a:t>Temas</a:t>
            </a:r>
            <a:endParaRPr lang="en-US" sz="1900" dirty="0"/>
          </a:p>
        </p:txBody>
      </p:sp>
      <p:sp>
        <p:nvSpPr>
          <p:cNvPr id="18" name="Text 15"/>
          <p:cNvSpPr txBox="1"/>
          <p:nvPr/>
        </p:nvSpPr>
        <p:spPr>
          <a:xfrm>
            <a:off x="6364224" y="3108960"/>
            <a:ext cx="2286000" cy="2560320"/>
          </a:xfrm>
          <a:prstGeom prst="rect">
            <a:avLst/>
          </a:prstGeom>
          <a:noFill/>
          <a:ln/>
        </p:spPr>
        <p:txBody>
          <a:bodyPr wrap="square" lIns="0" tIns="0" rIns="0" bIns="0" rtlCol="0" anchor="t"/>
          <a:lstStyle/>
          <a:p>
            <a:pPr indent="0" marL="0">
              <a:spcAft>
                <a:spcPts val="800"/>
              </a:spcAft>
              <a:buNone/>
            </a:pPr>
            <a:r>
              <a:rPr lang="en-US" sz="1500" dirty="0">
                <a:solidFill>
                  <a:srgbClr val="33495A"/>
                </a:solidFill>
                <a:latin typeface="Calibri" pitchFamily="34" charset="0"/>
                <a:ea typeface="Calibri" pitchFamily="34" charset="-122"/>
                <a:cs typeface="Calibri" pitchFamily="34" charset="-120"/>
              </a:rPr>
              <a:t>BERTopic: un modelo para pros (50 temas) y otro para cons (39 temas), agrupados en 11 categorías de negocio.</a:t>
            </a:r>
            <a:endParaRPr lang="en-US" sz="1500" dirty="0"/>
          </a:p>
        </p:txBody>
      </p:sp>
      <p:sp>
        <p:nvSpPr>
          <p:cNvPr id="19" name="Shape 16"/>
          <p:cNvSpPr/>
          <p:nvPr/>
        </p:nvSpPr>
        <p:spPr>
          <a:xfrm>
            <a:off x="8997696" y="1645920"/>
            <a:ext cx="2651760" cy="4114800"/>
          </a:xfrm>
          <a:prstGeom prst="roundRect">
            <a:avLst>
              <a:gd name="adj" fmla="val 2759"/>
            </a:avLst>
          </a:prstGeom>
          <a:solidFill>
            <a:srgbClr val="FFFFFF"/>
          </a:solidFill>
          <a:ln w="12700">
            <a:solidFill>
              <a:srgbClr val="C9DDE5"/>
            </a:solidFill>
            <a:prstDash val="solid"/>
          </a:ln>
        </p:spPr>
      </p:sp>
      <p:sp>
        <p:nvSpPr>
          <p:cNvPr id="20" name="Shape 17"/>
          <p:cNvSpPr/>
          <p:nvPr/>
        </p:nvSpPr>
        <p:spPr>
          <a:xfrm>
            <a:off x="9180576" y="1828800"/>
            <a:ext cx="548640" cy="548640"/>
          </a:xfrm>
          <a:prstGeom prst="ellipse">
            <a:avLst/>
          </a:prstGeom>
          <a:solidFill>
            <a:srgbClr val="2F7F9B"/>
          </a:solidFill>
          <a:ln w="12700">
            <a:solidFill>
              <a:srgbClr val="2F7F9B"/>
            </a:solidFill>
            <a:prstDash val="solid"/>
          </a:ln>
        </p:spPr>
      </p:sp>
      <p:sp>
        <p:nvSpPr>
          <p:cNvPr id="21" name="Text 18"/>
          <p:cNvSpPr txBox="1"/>
          <p:nvPr/>
        </p:nvSpPr>
        <p:spPr>
          <a:xfrm>
            <a:off x="9180576"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19"/>
          <p:cNvSpPr txBox="1"/>
          <p:nvPr/>
        </p:nvSpPr>
        <p:spPr>
          <a:xfrm>
            <a:off x="9180576" y="2560320"/>
            <a:ext cx="2286000" cy="457200"/>
          </a:xfrm>
          <a:prstGeom prst="rect">
            <a:avLst/>
          </a:prstGeom>
          <a:noFill/>
          <a:ln/>
        </p:spPr>
        <p:txBody>
          <a:bodyPr wrap="square" lIns="0" tIns="0" rIns="0" bIns="0" rtlCol="0" anchor="t"/>
          <a:lstStyle/>
          <a:p>
            <a:pPr indent="0" marL="0">
              <a:spcAft>
                <a:spcPts val="800"/>
              </a:spcAft>
              <a:buNone/>
            </a:pPr>
            <a:r>
              <a:rPr lang="en-US" sz="1900" b="1" dirty="0">
                <a:solidFill>
                  <a:srgbClr val="1F3A4D"/>
                </a:solidFill>
                <a:latin typeface="Calibri" pitchFamily="34" charset="0"/>
                <a:ea typeface="Calibri" pitchFamily="34" charset="-122"/>
                <a:cs typeface="Calibri" pitchFamily="34" charset="-120"/>
              </a:rPr>
              <a:t>Comparación</a:t>
            </a:r>
            <a:endParaRPr lang="en-US" sz="1900" dirty="0"/>
          </a:p>
        </p:txBody>
      </p:sp>
      <p:sp>
        <p:nvSpPr>
          <p:cNvPr id="23" name="Text 20"/>
          <p:cNvSpPr txBox="1"/>
          <p:nvPr/>
        </p:nvSpPr>
        <p:spPr>
          <a:xfrm>
            <a:off x="9180576" y="3108960"/>
            <a:ext cx="2286000" cy="2560320"/>
          </a:xfrm>
          <a:prstGeom prst="rect">
            <a:avLst/>
          </a:prstGeom>
          <a:noFill/>
          <a:ln/>
        </p:spPr>
        <p:txBody>
          <a:bodyPr wrap="square" lIns="0" tIns="0" rIns="0" bIns="0" rtlCol="0" anchor="t"/>
          <a:lstStyle/>
          <a:p>
            <a:pPr indent="0" marL="0">
              <a:spcAft>
                <a:spcPts val="800"/>
              </a:spcAft>
              <a:buNone/>
            </a:pPr>
            <a:r>
              <a:rPr lang="en-US" sz="1500" dirty="0">
                <a:solidFill>
                  <a:srgbClr val="33495A"/>
                </a:solidFill>
                <a:latin typeface="Calibri" pitchFamily="34" charset="0"/>
                <a:ea typeface="Calibri" pitchFamily="34" charset="-122"/>
                <a:cs typeface="Calibri" pitchFamily="34" charset="-120"/>
              </a:rPr>
              <a:t>Balance neto (pros − cons) de Barclays frente a la media de los peers, con IC 95 % por bootstrap y tres señales de prioridad.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9692640" cy="914400"/>
          </a:xfrm>
          <a:prstGeom prst="rect">
            <a:avLst/>
          </a:prstGeom>
          <a:noFill/>
          <a:ln/>
        </p:spPr>
        <p:txBody>
          <a:bodyPr wrap="square" lIns="0" tIns="0" rIns="0" bIns="0" rtlCol="0" anchor="t"/>
          <a:lstStyle/>
          <a:p>
            <a:pPr indent="0" marL="0">
              <a:buNone/>
            </a:pPr>
            <a:r>
              <a:rPr lang="en-US" sz="2800" b="1" dirty="0">
                <a:solidFill>
                  <a:srgbClr val="1F3A4D"/>
                </a:solidFill>
                <a:latin typeface="Calibri" pitchFamily="34" charset="0"/>
                <a:ea typeface="Calibri" pitchFamily="34" charset="-122"/>
                <a:cs typeface="Calibri" pitchFamily="34" charset="-120"/>
              </a:rPr>
              <a:t>Barclays lidera en valoración media; en recomendación la superan NatWest y Standard-Chartered</a:t>
            </a:r>
            <a:endParaRPr lang="en-US" sz="2800" dirty="0"/>
          </a:p>
        </p:txBody>
      </p:sp>
      <p:sp>
        <p:nvSpPr>
          <p:cNvPr id="4" name="Shape 1"/>
          <p:cNvSpPr/>
          <p:nvPr/>
        </p:nvSpPr>
        <p:spPr>
          <a:xfrm>
            <a:off x="1252728" y="1389888"/>
            <a:ext cx="9656064" cy="3245965"/>
          </a:xfrm>
          <a:prstGeom prst="roundRect">
            <a:avLst>
              <a:gd name="adj" fmla="val 2254"/>
            </a:avLst>
          </a:prstGeom>
          <a:solidFill>
            <a:srgbClr val="FFFFFF"/>
          </a:solidFill>
          <a:ln w="12700">
            <a:solidFill>
              <a:srgbClr val="C9DDE5"/>
            </a:solidFill>
            <a:prstDash val="solid"/>
          </a:ln>
        </p:spPr>
      </p:sp>
      <p:pic>
        <p:nvPicPr>
          <p:cNvPr id="5" name="Image 0" descr="img/fig_1_1.png">    </p:cNvPr>
          <p:cNvPicPr>
            <a:picLocks noChangeAspect="1"/>
          </p:cNvPicPr>
          <p:nvPr/>
        </p:nvPicPr>
        <p:blipFill>
          <a:blip r:embed="rId2"/>
          <a:stretch>
            <a:fillRect/>
          </a:stretch>
        </p:blipFill>
        <p:spPr>
          <a:xfrm>
            <a:off x="1325880" y="1463040"/>
            <a:ext cx="9509760" cy="3099661"/>
          </a:xfrm>
          <a:prstGeom prst="rect">
            <a:avLst/>
          </a:prstGeom>
        </p:spPr>
      </p:pic>
      <p:sp>
        <p:nvSpPr>
          <p:cNvPr id="6" name="Shape 2"/>
          <p:cNvSpPr/>
          <p:nvPr/>
        </p:nvSpPr>
        <p:spPr>
          <a:xfrm>
            <a:off x="548640" y="4754880"/>
            <a:ext cx="3566160" cy="1234440"/>
          </a:xfrm>
          <a:prstGeom prst="roundRect">
            <a:avLst>
              <a:gd name="adj" fmla="val 5926"/>
            </a:avLst>
          </a:prstGeom>
          <a:solidFill>
            <a:srgbClr val="FFFFFF"/>
          </a:solidFill>
          <a:ln w="12700">
            <a:solidFill>
              <a:srgbClr val="C9DDE5"/>
            </a:solidFill>
            <a:prstDash val="solid"/>
          </a:ln>
        </p:spPr>
      </p:sp>
      <p:sp>
        <p:nvSpPr>
          <p:cNvPr id="7" name="Text 3"/>
          <p:cNvSpPr txBox="1"/>
          <p:nvPr/>
        </p:nvSpPr>
        <p:spPr>
          <a:xfrm>
            <a:off x="685800" y="4864608"/>
            <a:ext cx="3291840" cy="594360"/>
          </a:xfrm>
          <a:prstGeom prst="rect">
            <a:avLst/>
          </a:prstGeom>
          <a:noFill/>
          <a:ln/>
        </p:spPr>
        <p:txBody>
          <a:bodyPr wrap="square" lIns="0" tIns="0" rIns="0" bIns="0" rtlCol="0" anchor="t"/>
          <a:lstStyle/>
          <a:p>
            <a:pPr indent="0" marL="0">
              <a:buNone/>
            </a:pPr>
            <a:r>
              <a:rPr lang="en-US" sz="3000" b="1" dirty="0">
                <a:solidFill>
                  <a:srgbClr val="2F7F9B"/>
                </a:solidFill>
                <a:latin typeface="Calibri" pitchFamily="34" charset="0"/>
                <a:ea typeface="Calibri" pitchFamily="34" charset="-122"/>
                <a:cs typeface="Calibri" pitchFamily="34" charset="-120"/>
              </a:rPr>
              <a:t>3,89</a:t>
            </a:r>
            <a:endParaRPr lang="en-US" sz="3000" dirty="0"/>
          </a:p>
        </p:txBody>
      </p:sp>
      <p:sp>
        <p:nvSpPr>
          <p:cNvPr id="8" name="Text 4"/>
          <p:cNvSpPr txBox="1"/>
          <p:nvPr/>
        </p:nvSpPr>
        <p:spPr>
          <a:xfrm>
            <a:off x="685800" y="5468112"/>
            <a:ext cx="3291840" cy="475488"/>
          </a:xfrm>
          <a:prstGeom prst="rect">
            <a:avLst/>
          </a:prstGeom>
          <a:noFill/>
          <a:ln/>
        </p:spPr>
        <p:txBody>
          <a:bodyPr wrap="square" lIns="0" tIns="0" rIns="0" bIns="0" rtlCol="0" anchor="t"/>
          <a:lstStyle/>
          <a:p>
            <a:pPr indent="0" marL="0">
              <a:buNone/>
            </a:pPr>
            <a:r>
              <a:rPr lang="en-US" sz="1300" dirty="0">
                <a:solidFill>
                  <a:srgbClr val="33495A"/>
                </a:solidFill>
                <a:latin typeface="Calibri" pitchFamily="34" charset="0"/>
                <a:ea typeface="Calibri" pitchFamily="34" charset="-122"/>
                <a:cs typeface="Calibri" pitchFamily="34" charset="-120"/>
              </a:rPr>
              <a:t>valoración media de Barclays; los peers van de 3,71 a 3,84</a:t>
            </a:r>
            <a:endParaRPr lang="en-US" sz="1300" dirty="0"/>
          </a:p>
        </p:txBody>
      </p:sp>
      <p:sp>
        <p:nvSpPr>
          <p:cNvPr id="9" name="Shape 5"/>
          <p:cNvSpPr/>
          <p:nvPr/>
        </p:nvSpPr>
        <p:spPr>
          <a:xfrm>
            <a:off x="4297680" y="4754880"/>
            <a:ext cx="3657600" cy="1234440"/>
          </a:xfrm>
          <a:prstGeom prst="roundRect">
            <a:avLst>
              <a:gd name="adj" fmla="val 5926"/>
            </a:avLst>
          </a:prstGeom>
          <a:solidFill>
            <a:srgbClr val="FFFFFF"/>
          </a:solidFill>
          <a:ln w="12700">
            <a:solidFill>
              <a:srgbClr val="C9DDE5"/>
            </a:solidFill>
            <a:prstDash val="solid"/>
          </a:ln>
        </p:spPr>
      </p:sp>
      <p:sp>
        <p:nvSpPr>
          <p:cNvPr id="10" name="Text 6"/>
          <p:cNvSpPr txBox="1"/>
          <p:nvPr/>
        </p:nvSpPr>
        <p:spPr>
          <a:xfrm>
            <a:off x="4434840" y="4864608"/>
            <a:ext cx="3383280" cy="594360"/>
          </a:xfrm>
          <a:prstGeom prst="rect">
            <a:avLst/>
          </a:prstGeom>
          <a:noFill/>
          <a:ln/>
        </p:spPr>
        <p:txBody>
          <a:bodyPr wrap="square" lIns="0" tIns="0" rIns="0" bIns="0" rtlCol="0" anchor="t"/>
          <a:lstStyle/>
          <a:p>
            <a:pPr indent="0" marL="0">
              <a:buNone/>
            </a:pPr>
            <a:r>
              <a:rPr lang="en-US" sz="3000" b="1" dirty="0">
                <a:solidFill>
                  <a:srgbClr val="2F7F9B"/>
                </a:solidFill>
                <a:latin typeface="Calibri" pitchFamily="34" charset="0"/>
                <a:ea typeface="Calibri" pitchFamily="34" charset="-122"/>
                <a:cs typeface="Calibri" pitchFamily="34" charset="-120"/>
              </a:rPr>
              <a:t>33,6</a:t>
            </a:r>
            <a:endParaRPr lang="en-US" sz="3000" dirty="0"/>
          </a:p>
        </p:txBody>
      </p:sp>
      <p:sp>
        <p:nvSpPr>
          <p:cNvPr id="11" name="Text 7"/>
          <p:cNvSpPr txBox="1"/>
          <p:nvPr/>
        </p:nvSpPr>
        <p:spPr>
          <a:xfrm>
            <a:off x="4434840" y="5468112"/>
            <a:ext cx="3383280" cy="475488"/>
          </a:xfrm>
          <a:prstGeom prst="rect">
            <a:avLst/>
          </a:prstGeom>
          <a:noFill/>
          <a:ln/>
        </p:spPr>
        <p:txBody>
          <a:bodyPr wrap="square" lIns="0" tIns="0" rIns="0" bIns="0" rtlCol="0" anchor="t"/>
          <a:lstStyle/>
          <a:p>
            <a:pPr indent="0" marL="0">
              <a:buNone/>
            </a:pPr>
            <a:r>
              <a:rPr lang="en-US" sz="1300" dirty="0">
                <a:solidFill>
                  <a:srgbClr val="33495A"/>
                </a:solidFill>
                <a:latin typeface="Calibri" pitchFamily="34" charset="0"/>
                <a:ea typeface="Calibri" pitchFamily="34" charset="-122"/>
                <a:cs typeface="Calibri" pitchFamily="34" charset="-120"/>
              </a:rPr>
              <a:t>recomendación neta de Barclays; NatWest 35,5 y Standard-Chartered 35,1</a:t>
            </a:r>
            <a:endParaRPr lang="en-US" sz="1300" dirty="0"/>
          </a:p>
        </p:txBody>
      </p:sp>
      <p:sp>
        <p:nvSpPr>
          <p:cNvPr id="12" name="Shape 8"/>
          <p:cNvSpPr/>
          <p:nvPr/>
        </p:nvSpPr>
        <p:spPr>
          <a:xfrm>
            <a:off x="8138160" y="4754880"/>
            <a:ext cx="3474720" cy="1234440"/>
          </a:xfrm>
          <a:prstGeom prst="roundRect">
            <a:avLst>
              <a:gd name="adj" fmla="val 5926"/>
            </a:avLst>
          </a:prstGeom>
          <a:solidFill>
            <a:srgbClr val="FFFFFF"/>
          </a:solidFill>
          <a:ln w="12700">
            <a:solidFill>
              <a:srgbClr val="C9DDE5"/>
            </a:solidFill>
            <a:prstDash val="solid"/>
          </a:ln>
        </p:spPr>
      </p:sp>
      <p:sp>
        <p:nvSpPr>
          <p:cNvPr id="13" name="Text 9"/>
          <p:cNvSpPr txBox="1"/>
          <p:nvPr/>
        </p:nvSpPr>
        <p:spPr>
          <a:xfrm>
            <a:off x="8275320" y="4864608"/>
            <a:ext cx="3200400" cy="594360"/>
          </a:xfrm>
          <a:prstGeom prst="rect">
            <a:avLst/>
          </a:prstGeom>
          <a:noFill/>
          <a:ln/>
        </p:spPr>
        <p:txBody>
          <a:bodyPr wrap="square" lIns="0" tIns="0" rIns="0" bIns="0" rtlCol="0" anchor="t"/>
          <a:lstStyle/>
          <a:p>
            <a:pPr indent="0" marL="0">
              <a:buNone/>
            </a:pPr>
            <a:r>
              <a:rPr lang="en-US" sz="3000" b="1" dirty="0">
                <a:solidFill>
                  <a:srgbClr val="2F7F9B"/>
                </a:solidFill>
                <a:latin typeface="Calibri" pitchFamily="34" charset="0"/>
                <a:ea typeface="Calibri" pitchFamily="34" charset="-122"/>
                <a:cs typeface="Calibri" pitchFamily="34" charset="-120"/>
              </a:rPr>
              <a:t>22,8</a:t>
            </a:r>
            <a:endParaRPr lang="en-US" sz="3000" dirty="0"/>
          </a:p>
        </p:txBody>
      </p:sp>
      <p:sp>
        <p:nvSpPr>
          <p:cNvPr id="14" name="Text 10"/>
          <p:cNvSpPr txBox="1"/>
          <p:nvPr/>
        </p:nvSpPr>
        <p:spPr>
          <a:xfrm>
            <a:off x="8275320" y="5468112"/>
            <a:ext cx="3200400" cy="475488"/>
          </a:xfrm>
          <a:prstGeom prst="rect">
            <a:avLst/>
          </a:prstGeom>
          <a:noFill/>
          <a:ln/>
        </p:spPr>
        <p:txBody>
          <a:bodyPr wrap="square" lIns="0" tIns="0" rIns="0" bIns="0" rtlCol="0" anchor="t"/>
          <a:lstStyle/>
          <a:p>
            <a:pPr indent="0" marL="0">
              <a:buNone/>
            </a:pPr>
            <a:r>
              <a:rPr lang="en-US" sz="1300" dirty="0">
                <a:solidFill>
                  <a:srgbClr val="33495A"/>
                </a:solidFill>
                <a:latin typeface="Calibri" pitchFamily="34" charset="0"/>
                <a:ea typeface="Calibri" pitchFamily="34" charset="-122"/>
                <a:cs typeface="Calibri" pitchFamily="34" charset="-120"/>
              </a:rPr>
              <a:t>Deutsche-Bank, y HSBC 27,1: los dos peers por debajo de Barclays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9692640" cy="914400"/>
          </a:xfrm>
          <a:prstGeom prst="rect">
            <a:avLst/>
          </a:prstGeom>
          <a:noFill/>
          <a:ln/>
        </p:spPr>
        <p:txBody>
          <a:bodyPr wrap="square" lIns="0" tIns="0" rIns="0" bIns="0" rtlCol="0" anchor="t"/>
          <a:lstStyle/>
          <a:p>
            <a:pPr indent="0" marL="0">
              <a:buNone/>
            </a:pPr>
            <a:r>
              <a:rPr lang="en-US" sz="2800" b="1" dirty="0">
                <a:solidFill>
                  <a:srgbClr val="1F3A4D"/>
                </a:solidFill>
                <a:latin typeface="Calibri" pitchFamily="34" charset="0"/>
                <a:ea typeface="Calibri" pitchFamily="34" charset="-122"/>
                <a:cs typeface="Calibri" pitchFamily="34" charset="-120"/>
              </a:rPr>
              <a:t>La ventaja de Barclays se ha estrechado, con un bache en 2021</a:t>
            </a:r>
            <a:endParaRPr lang="en-US" sz="2800" dirty="0"/>
          </a:p>
        </p:txBody>
      </p:sp>
      <p:sp>
        <p:nvSpPr>
          <p:cNvPr id="4" name="Shape 1"/>
          <p:cNvSpPr/>
          <p:nvPr/>
        </p:nvSpPr>
        <p:spPr>
          <a:xfrm>
            <a:off x="566928" y="1481328"/>
            <a:ext cx="7095744" cy="3183779"/>
          </a:xfrm>
          <a:prstGeom prst="roundRect">
            <a:avLst>
              <a:gd name="adj" fmla="val 2298"/>
            </a:avLst>
          </a:prstGeom>
          <a:solidFill>
            <a:srgbClr val="FFFFFF"/>
          </a:solidFill>
          <a:ln w="12700">
            <a:solidFill>
              <a:srgbClr val="C9DDE5"/>
            </a:solidFill>
            <a:prstDash val="solid"/>
          </a:ln>
        </p:spPr>
      </p:sp>
      <p:pic>
        <p:nvPicPr>
          <p:cNvPr id="5" name="Image 0" descr="img/fig_1_3.png">    </p:cNvPr>
          <p:cNvPicPr>
            <a:picLocks noChangeAspect="1"/>
          </p:cNvPicPr>
          <p:nvPr/>
        </p:nvPicPr>
        <p:blipFill>
          <a:blip r:embed="rId2"/>
          <a:stretch>
            <a:fillRect/>
          </a:stretch>
        </p:blipFill>
        <p:spPr>
          <a:xfrm>
            <a:off x="640080" y="1554480"/>
            <a:ext cx="6949440" cy="3037475"/>
          </a:xfrm>
          <a:prstGeom prst="rect">
            <a:avLst/>
          </a:prstGeom>
        </p:spPr>
      </p:pic>
      <p:sp>
        <p:nvSpPr>
          <p:cNvPr id="6" name="Text 2"/>
          <p:cNvSpPr txBox="1"/>
          <p:nvPr/>
        </p:nvSpPr>
        <p:spPr>
          <a:xfrm>
            <a:off x="7955280" y="1554480"/>
            <a:ext cx="3657600" cy="4389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Barclays pasa de una posición intermedia en 2018 a la cabecera desde 2019.</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Su ventaja sobre la media de los peers baja de unos 0,22 puntos en 2018-19 a 0,07 en 2022-23.</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En 2021 cae por la valoración de los antiguos empleados (3,45 frente a 3,98 en 2020), sin ningún tema que lo explique.</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En 2023 (año parcial) Deutsche-Bank la supera por tres centésimas, diferencia dentro del ruido.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9692640" cy="914400"/>
          </a:xfrm>
          <a:prstGeom prst="rect">
            <a:avLst/>
          </a:prstGeom>
          <a:noFill/>
          <a:ln/>
        </p:spPr>
        <p:txBody>
          <a:bodyPr wrap="square" lIns="0" tIns="0" rIns="0" bIns="0" rtlCol="0" anchor="t"/>
          <a:lstStyle/>
          <a:p>
            <a:pPr indent="0" marL="0">
              <a:buNone/>
            </a:pPr>
            <a:r>
              <a:rPr lang="en-US" sz="2800" b="1" dirty="0">
                <a:solidFill>
                  <a:srgbClr val="1F3A4D"/>
                </a:solidFill>
                <a:latin typeface="Calibri" pitchFamily="34" charset="0"/>
                <a:ea typeface="Calibri" pitchFamily="34" charset="-122"/>
                <a:cs typeface="Calibri" pitchFamily="34" charset="-120"/>
              </a:rPr>
              <a:t>Los puntos fuertes de Barclays son la compensación y la estabilidad</a:t>
            </a:r>
            <a:endParaRPr lang="en-US" sz="2800" dirty="0"/>
          </a:p>
        </p:txBody>
      </p:sp>
      <p:sp>
        <p:nvSpPr>
          <p:cNvPr id="4" name="Shape 1"/>
          <p:cNvSpPr/>
          <p:nvPr/>
        </p:nvSpPr>
        <p:spPr>
          <a:xfrm>
            <a:off x="566928" y="1481328"/>
            <a:ext cx="6821424" cy="3812140"/>
          </a:xfrm>
          <a:prstGeom prst="roundRect">
            <a:avLst>
              <a:gd name="adj" fmla="val 1919"/>
            </a:avLst>
          </a:prstGeom>
          <a:solidFill>
            <a:srgbClr val="FFFFFF"/>
          </a:solidFill>
          <a:ln w="12700">
            <a:solidFill>
              <a:srgbClr val="C9DDE5"/>
            </a:solidFill>
            <a:prstDash val="solid"/>
          </a:ln>
        </p:spPr>
      </p:sp>
      <p:pic>
        <p:nvPicPr>
          <p:cNvPr id="5" name="Image 0" descr="img/fig_4_2.png">    </p:cNvPr>
          <p:cNvPicPr>
            <a:picLocks noChangeAspect="1"/>
          </p:cNvPicPr>
          <p:nvPr/>
        </p:nvPicPr>
        <p:blipFill>
          <a:blip r:embed="rId2"/>
          <a:stretch>
            <a:fillRect/>
          </a:stretch>
        </p:blipFill>
        <p:spPr>
          <a:xfrm>
            <a:off x="640080" y="1554480"/>
            <a:ext cx="6675120" cy="3665836"/>
          </a:xfrm>
          <a:prstGeom prst="rect">
            <a:avLst/>
          </a:prstGeom>
        </p:spPr>
      </p:pic>
      <p:sp>
        <p:nvSpPr>
          <p:cNvPr id="6" name="Text 2"/>
          <p:cNvSpPr txBox="1"/>
          <p:nvPr/>
        </p:nvSpPr>
        <p:spPr>
          <a:xfrm>
            <a:off x="7680960" y="1554480"/>
            <a:ext cx="3931920" cy="4389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Compensación y beneficios: +4,3 puntos frente a los peers, con intervalo claramente positivo. La ventaja crece de +2,3 en 2018-19 a +5,7 en 2022-23.</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Estabilidad y reestructuraciones: +1,9 puntos, con ventaja significativa en 2018-19 y en 2022-23.</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Son los mensajes más sólidos para employer branding y selección.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9692640" cy="914400"/>
          </a:xfrm>
          <a:prstGeom prst="rect">
            <a:avLst/>
          </a:prstGeom>
          <a:noFill/>
          <a:ln/>
        </p:spPr>
        <p:txBody>
          <a:bodyPr wrap="square" lIns="0" tIns="0" rIns="0" bIns="0" rtlCol="0" anchor="t"/>
          <a:lstStyle/>
          <a:p>
            <a:pPr indent="0" marL="0">
              <a:buNone/>
            </a:pPr>
            <a:r>
              <a:rPr lang="en-US" sz="2800" b="1" dirty="0">
                <a:solidFill>
                  <a:srgbClr val="1F3A4D"/>
                </a:solidFill>
                <a:latin typeface="Calibri" pitchFamily="34" charset="0"/>
                <a:ea typeface="Calibri" pitchFamily="34" charset="-122"/>
                <a:cs typeface="Calibri" pitchFamily="34" charset="-120"/>
              </a:rPr>
              <a:t>Cultura y tecnología son las áreas de mejora con prioridad alta</a:t>
            </a:r>
            <a:endParaRPr lang="en-US" sz="2800" dirty="0"/>
          </a:p>
        </p:txBody>
      </p:sp>
      <p:sp>
        <p:nvSpPr>
          <p:cNvPr id="4" name="Shape 1"/>
          <p:cNvSpPr/>
          <p:nvPr/>
        </p:nvSpPr>
        <p:spPr>
          <a:xfrm>
            <a:off x="566928" y="1435608"/>
            <a:ext cx="6455664" cy="4102760"/>
          </a:xfrm>
          <a:prstGeom prst="roundRect">
            <a:avLst>
              <a:gd name="adj" fmla="val 1783"/>
            </a:avLst>
          </a:prstGeom>
          <a:solidFill>
            <a:srgbClr val="FFFFFF"/>
          </a:solidFill>
          <a:ln w="12700">
            <a:solidFill>
              <a:srgbClr val="C9DDE5"/>
            </a:solidFill>
            <a:prstDash val="solid"/>
          </a:ln>
        </p:spPr>
      </p:sp>
      <p:pic>
        <p:nvPicPr>
          <p:cNvPr id="5" name="Image 0" descr="img/fig_6_1.png">    </p:cNvPr>
          <p:cNvPicPr>
            <a:picLocks noChangeAspect="1"/>
          </p:cNvPicPr>
          <p:nvPr/>
        </p:nvPicPr>
        <p:blipFill>
          <a:blip r:embed="rId2"/>
          <a:stretch>
            <a:fillRect/>
          </a:stretch>
        </p:blipFill>
        <p:spPr>
          <a:xfrm>
            <a:off x="640080" y="1508760"/>
            <a:ext cx="6309360" cy="3956456"/>
          </a:xfrm>
          <a:prstGeom prst="rect">
            <a:avLst/>
          </a:prstGeom>
        </p:spPr>
      </p:pic>
      <p:sp>
        <p:nvSpPr>
          <p:cNvPr id="6" name="Text 2"/>
          <p:cNvSpPr txBox="1"/>
          <p:nvPr/>
        </p:nvSpPr>
        <p:spPr>
          <a:xfrm>
            <a:off x="7315200" y="1554480"/>
            <a:ext cx="4297680" cy="438912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rgbClr val="C0392B"/>
                </a:solidFill>
                <a:latin typeface="Calibri" pitchFamily="34" charset="0"/>
                <a:ea typeface="Calibri" pitchFamily="34" charset="-122"/>
                <a:cs typeface="Calibri" pitchFamily="34" charset="-120"/>
              </a:rPr>
              <a:t>Prioridad alta: Cultura y ambiente y Tecnología y sistemas.</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Prioridad media: Empresa y marca, la única desventaja significativa (−1,6), y Naturaleza del puesto y ubicación.</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Vigilar: Conciliación y carga de trabajo. Tiene el mayor gap (+2,3), pero el intervalo incluye el cero y depende del efecto de NatWest.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9692640" cy="914400"/>
          </a:xfrm>
          <a:prstGeom prst="rect">
            <a:avLst/>
          </a:prstGeom>
          <a:noFill/>
          <a:ln/>
        </p:spPr>
        <p:txBody>
          <a:bodyPr wrap="square" lIns="0" tIns="0" rIns="0" bIns="0" rtlCol="0" anchor="t"/>
          <a:lstStyle/>
          <a:p>
            <a:pPr indent="0" marL="0">
              <a:buNone/>
            </a:pPr>
            <a:r>
              <a:rPr lang="en-US" sz="2800" b="1" dirty="0">
                <a:solidFill>
                  <a:srgbClr val="1F3A4D"/>
                </a:solidFill>
                <a:latin typeface="Calibri" pitchFamily="34" charset="0"/>
                <a:ea typeface="Calibri" pitchFamily="34" charset="-122"/>
                <a:cs typeface="Calibri" pitchFamily="34" charset="-120"/>
              </a:rPr>
              <a:t>Con el tiempo mejora la conciliación y empeoran empresa y marca</a:t>
            </a:r>
            <a:endParaRPr lang="en-US" sz="2800" dirty="0"/>
          </a:p>
        </p:txBody>
      </p:sp>
      <p:sp>
        <p:nvSpPr>
          <p:cNvPr id="4" name="Shape 1"/>
          <p:cNvSpPr/>
          <p:nvPr/>
        </p:nvSpPr>
        <p:spPr>
          <a:xfrm>
            <a:off x="566928" y="1435608"/>
            <a:ext cx="5815584" cy="4128379"/>
          </a:xfrm>
          <a:prstGeom prst="roundRect">
            <a:avLst>
              <a:gd name="adj" fmla="val 1772"/>
            </a:avLst>
          </a:prstGeom>
          <a:solidFill>
            <a:srgbClr val="FFFFFF"/>
          </a:solidFill>
          <a:ln w="12700">
            <a:solidFill>
              <a:srgbClr val="C9DDE5"/>
            </a:solidFill>
            <a:prstDash val="solid"/>
          </a:ln>
        </p:spPr>
      </p:sp>
      <p:pic>
        <p:nvPicPr>
          <p:cNvPr id="5" name="Image 0" descr="img/fig_7_1.png">    </p:cNvPr>
          <p:cNvPicPr>
            <a:picLocks noChangeAspect="1"/>
          </p:cNvPicPr>
          <p:nvPr/>
        </p:nvPicPr>
        <p:blipFill>
          <a:blip r:embed="rId2"/>
          <a:stretch>
            <a:fillRect/>
          </a:stretch>
        </p:blipFill>
        <p:spPr>
          <a:xfrm>
            <a:off x="640080" y="1508760"/>
            <a:ext cx="5669280" cy="3982075"/>
          </a:xfrm>
          <a:prstGeom prst="rect">
            <a:avLst/>
          </a:prstGeom>
        </p:spPr>
      </p:pic>
      <p:sp>
        <p:nvSpPr>
          <p:cNvPr id="6" name="Text 2"/>
          <p:cNvSpPr txBox="1"/>
          <p:nvPr/>
        </p:nvSpPr>
        <p:spPr>
          <a:xfrm>
            <a:off x="6858000" y="1554480"/>
            <a:ext cx="4754880" cy="4389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Conciliación y carga de trabajo pasa de −4,0 y −3,3 en los dos primeros periodos a +0,5 en 2022-23.</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Empresa y marca empeora hasta −2,2 en 2022-23, diferencia significativa.</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Cultura y ambiente es desfavorable en los tres periodos.</a:t>
            </a:r>
            <a:endParaRPr lang="en-US" sz="1600" dirty="0"/>
          </a:p>
          <a:p>
            <a:pPr marL="342900" indent="-342900">
              <a:spcAft>
                <a:spcPts val="800"/>
              </a:spcAft>
              <a:buSzPct val="100000"/>
              <a:buChar char="•"/>
            </a:pPr>
            <a:r>
              <a:rPr lang="en-US" sz="1600" dirty="0">
                <a:solidFill>
                  <a:srgbClr val="33495A"/>
                </a:solidFill>
                <a:latin typeface="Calibri" pitchFamily="34" charset="0"/>
                <a:ea typeface="Calibri" pitchFamily="34" charset="-122"/>
                <a:cs typeface="Calibri" pitchFamily="34" charset="-120"/>
              </a:rPr>
              <a:t>Tecnología es el único motivo de salida significativo: 4,6 % de los antiguos empleados de Barclays frente a 2,7 % en los peers.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9692640" cy="914400"/>
          </a:xfrm>
          <a:prstGeom prst="rect">
            <a:avLst/>
          </a:prstGeom>
          <a:noFill/>
          <a:ln/>
        </p:spPr>
        <p:txBody>
          <a:bodyPr wrap="square" lIns="0" tIns="0" rIns="0" bIns="0" rtlCol="0" anchor="t"/>
          <a:lstStyle/>
          <a:p>
            <a:pPr indent="0" marL="0">
              <a:buNone/>
            </a:pPr>
            <a:r>
              <a:rPr lang="en-US" sz="2800" b="1" dirty="0">
                <a:solidFill>
                  <a:srgbClr val="1F3A4D"/>
                </a:solidFill>
                <a:latin typeface="Calibri" pitchFamily="34" charset="0"/>
                <a:ea typeface="Calibri" pitchFamily="34" charset="-122"/>
                <a:cs typeface="Calibri" pitchFamily="34" charset="-120"/>
              </a:rPr>
              <a:t>Tres recomendaciones para RRHH</a:t>
            </a:r>
            <a:endParaRPr lang="en-US" sz="2800" dirty="0"/>
          </a:p>
        </p:txBody>
      </p:sp>
      <p:sp>
        <p:nvSpPr>
          <p:cNvPr id="4" name="Shape 1"/>
          <p:cNvSpPr/>
          <p:nvPr/>
        </p:nvSpPr>
        <p:spPr>
          <a:xfrm>
            <a:off x="548640" y="1554480"/>
            <a:ext cx="3566160" cy="4389120"/>
          </a:xfrm>
          <a:prstGeom prst="roundRect">
            <a:avLst>
              <a:gd name="adj" fmla="val 2051"/>
            </a:avLst>
          </a:prstGeom>
          <a:solidFill>
            <a:srgbClr val="FFFFFF"/>
          </a:solidFill>
          <a:ln w="12700">
            <a:solidFill>
              <a:srgbClr val="C9DDE5"/>
            </a:solidFill>
            <a:prstDash val="solid"/>
          </a:ln>
        </p:spPr>
      </p:sp>
      <p:sp>
        <p:nvSpPr>
          <p:cNvPr id="5" name="Shape 2"/>
          <p:cNvSpPr/>
          <p:nvPr/>
        </p:nvSpPr>
        <p:spPr>
          <a:xfrm>
            <a:off x="731520" y="1737360"/>
            <a:ext cx="548640" cy="548640"/>
          </a:xfrm>
          <a:prstGeom prst="ellipse">
            <a:avLst/>
          </a:prstGeom>
          <a:solidFill>
            <a:srgbClr val="2F7F9B"/>
          </a:solidFill>
          <a:ln w="12700">
            <a:solidFill>
              <a:srgbClr val="2F7F9B"/>
            </a:solidFill>
            <a:prstDash val="solid"/>
          </a:ln>
        </p:spPr>
      </p:sp>
      <p:sp>
        <p:nvSpPr>
          <p:cNvPr id="6" name="Text 3"/>
          <p:cNvSpPr txBox="1"/>
          <p:nvPr/>
        </p:nvSpPr>
        <p:spPr>
          <a:xfrm>
            <a:off x="731520" y="1737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731520" y="2423160"/>
            <a:ext cx="3200400" cy="731520"/>
          </a:xfrm>
          <a:prstGeom prst="rect">
            <a:avLst/>
          </a:prstGeom>
          <a:noFill/>
          <a:ln/>
        </p:spPr>
        <p:txBody>
          <a:bodyPr wrap="square" lIns="0" tIns="0" rIns="0" bIns="0" rtlCol="0" anchor="t"/>
          <a:lstStyle/>
          <a:p>
            <a:pPr indent="0" marL="0">
              <a:spcAft>
                <a:spcPts val="800"/>
              </a:spcAft>
              <a:buNone/>
            </a:pPr>
            <a:r>
              <a:rPr lang="en-US" sz="1900" b="1" dirty="0">
                <a:solidFill>
                  <a:srgbClr val="1F3A4D"/>
                </a:solidFill>
                <a:latin typeface="Calibri" pitchFamily="34" charset="0"/>
                <a:ea typeface="Calibri" pitchFamily="34" charset="-122"/>
                <a:cs typeface="Calibri" pitchFamily="34" charset="-120"/>
              </a:rPr>
              <a:t>Investigar cultura y política interna</a:t>
            </a:r>
            <a:endParaRPr lang="en-US" sz="1900" dirty="0"/>
          </a:p>
        </p:txBody>
      </p:sp>
      <p:sp>
        <p:nvSpPr>
          <p:cNvPr id="8" name="Text 5"/>
          <p:cNvSpPr txBox="1"/>
          <p:nvPr/>
        </p:nvSpPr>
        <p:spPr>
          <a:xfrm>
            <a:off x="731520" y="3200400"/>
            <a:ext cx="3200400" cy="1280160"/>
          </a:xfrm>
          <a:prstGeom prst="rect">
            <a:avLst/>
          </a:prstGeom>
          <a:noFill/>
          <a:ln/>
        </p:spPr>
        <p:txBody>
          <a:bodyPr wrap="square" lIns="0" tIns="0" rIns="0" bIns="0" rtlCol="0" anchor="t"/>
          <a:lstStyle/>
          <a:p>
            <a:pPr indent="0" marL="0">
              <a:spcAft>
                <a:spcPts val="800"/>
              </a:spcAft>
              <a:buNone/>
            </a:pPr>
            <a:r>
              <a:rPr lang="en-US" sz="1450" dirty="0">
                <a:solidFill>
                  <a:srgbClr val="33495A"/>
                </a:solidFill>
                <a:latin typeface="Calibri" pitchFamily="34" charset="0"/>
                <a:ea typeface="Calibri" pitchFamily="34" charset="-122"/>
                <a:cs typeface="Calibri" pitchFamily="34" charset="-120"/>
              </a:rPr>
              <a:t>Evidencia: prioridad alta; las reseñas con quejas de cultura son las que peor valoran la empresa.</a:t>
            </a:r>
            <a:endParaRPr lang="en-US" sz="1450" dirty="0"/>
          </a:p>
        </p:txBody>
      </p:sp>
      <p:sp>
        <p:nvSpPr>
          <p:cNvPr id="9" name="Text 6"/>
          <p:cNvSpPr txBox="1"/>
          <p:nvPr/>
        </p:nvSpPr>
        <p:spPr>
          <a:xfrm>
            <a:off x="731520" y="4526280"/>
            <a:ext cx="3200400" cy="1280160"/>
          </a:xfrm>
          <a:prstGeom prst="rect">
            <a:avLst/>
          </a:prstGeom>
          <a:noFill/>
          <a:ln/>
        </p:spPr>
        <p:txBody>
          <a:bodyPr wrap="square" lIns="0" tIns="0" rIns="0" bIns="0" rtlCol="0" anchor="t"/>
          <a:lstStyle/>
          <a:p>
            <a:pPr indent="0" marL="0">
              <a:spcAft>
                <a:spcPts val="800"/>
              </a:spcAft>
              <a:buNone/>
            </a:pPr>
            <a:r>
              <a:rPr lang="en-US" sz="1450" b="1" dirty="0">
                <a:solidFill>
                  <a:srgbClr val="1F3A4D"/>
                </a:solidFill>
                <a:latin typeface="Calibri" pitchFamily="34" charset="0"/>
                <a:ea typeface="Calibri" pitchFamily="34" charset="-122"/>
                <a:cs typeface="Calibri" pitchFamily="34" charset="-120"/>
              </a:rPr>
              <a:t>Acción: encuestas y entrevistas internas para concretar qué falla, antes de diseñar medidas.</a:t>
            </a:r>
            <a:endParaRPr lang="en-US" sz="1450" dirty="0"/>
          </a:p>
        </p:txBody>
      </p:sp>
      <p:sp>
        <p:nvSpPr>
          <p:cNvPr id="10" name="Shape 7"/>
          <p:cNvSpPr/>
          <p:nvPr/>
        </p:nvSpPr>
        <p:spPr>
          <a:xfrm>
            <a:off x="4297680" y="1554480"/>
            <a:ext cx="3566160" cy="4389120"/>
          </a:xfrm>
          <a:prstGeom prst="roundRect">
            <a:avLst>
              <a:gd name="adj" fmla="val 2051"/>
            </a:avLst>
          </a:prstGeom>
          <a:solidFill>
            <a:srgbClr val="FFFFFF"/>
          </a:solidFill>
          <a:ln w="12700">
            <a:solidFill>
              <a:srgbClr val="C9DDE5"/>
            </a:solidFill>
            <a:prstDash val="solid"/>
          </a:ln>
        </p:spPr>
      </p:sp>
      <p:sp>
        <p:nvSpPr>
          <p:cNvPr id="11" name="Shape 8"/>
          <p:cNvSpPr/>
          <p:nvPr/>
        </p:nvSpPr>
        <p:spPr>
          <a:xfrm>
            <a:off x="4480560" y="1737360"/>
            <a:ext cx="548640" cy="548640"/>
          </a:xfrm>
          <a:prstGeom prst="ellipse">
            <a:avLst/>
          </a:prstGeom>
          <a:solidFill>
            <a:srgbClr val="2F7F9B"/>
          </a:solidFill>
          <a:ln w="12700">
            <a:solidFill>
              <a:srgbClr val="2F7F9B"/>
            </a:solidFill>
            <a:prstDash val="solid"/>
          </a:ln>
        </p:spPr>
      </p:sp>
      <p:sp>
        <p:nvSpPr>
          <p:cNvPr id="12" name="Text 9"/>
          <p:cNvSpPr txBox="1"/>
          <p:nvPr/>
        </p:nvSpPr>
        <p:spPr>
          <a:xfrm>
            <a:off x="4480560" y="1737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txBox="1"/>
          <p:nvPr/>
        </p:nvSpPr>
        <p:spPr>
          <a:xfrm>
            <a:off x="4480560" y="2423160"/>
            <a:ext cx="3200400" cy="731520"/>
          </a:xfrm>
          <a:prstGeom prst="rect">
            <a:avLst/>
          </a:prstGeom>
          <a:noFill/>
          <a:ln/>
        </p:spPr>
        <p:txBody>
          <a:bodyPr wrap="square" lIns="0" tIns="0" rIns="0" bIns="0" rtlCol="0" anchor="t"/>
          <a:lstStyle/>
          <a:p>
            <a:pPr indent="0" marL="0">
              <a:spcAft>
                <a:spcPts val="800"/>
              </a:spcAft>
              <a:buNone/>
            </a:pPr>
            <a:r>
              <a:rPr lang="en-US" sz="1900" b="1" dirty="0">
                <a:solidFill>
                  <a:srgbClr val="1F3A4D"/>
                </a:solidFill>
                <a:latin typeface="Calibri" pitchFamily="34" charset="0"/>
                <a:ea typeface="Calibri" pitchFamily="34" charset="-122"/>
                <a:cs typeface="Calibri" pitchFamily="34" charset="-120"/>
              </a:rPr>
              <a:t>Revisar tecnología y sistemas</a:t>
            </a:r>
            <a:endParaRPr lang="en-US" sz="1900" dirty="0"/>
          </a:p>
        </p:txBody>
      </p:sp>
      <p:sp>
        <p:nvSpPr>
          <p:cNvPr id="14" name="Text 11"/>
          <p:cNvSpPr txBox="1"/>
          <p:nvPr/>
        </p:nvSpPr>
        <p:spPr>
          <a:xfrm>
            <a:off x="4480560" y="3200400"/>
            <a:ext cx="3200400" cy="1280160"/>
          </a:xfrm>
          <a:prstGeom prst="rect">
            <a:avLst/>
          </a:prstGeom>
          <a:noFill/>
          <a:ln/>
        </p:spPr>
        <p:txBody>
          <a:bodyPr wrap="square" lIns="0" tIns="0" rIns="0" bIns="0" rtlCol="0" anchor="t"/>
          <a:lstStyle/>
          <a:p>
            <a:pPr indent="0" marL="0">
              <a:spcAft>
                <a:spcPts val="800"/>
              </a:spcAft>
              <a:buNone/>
            </a:pPr>
            <a:r>
              <a:rPr lang="en-US" sz="1450" dirty="0">
                <a:solidFill>
                  <a:srgbClr val="33495A"/>
                </a:solidFill>
                <a:latin typeface="Calibri" pitchFamily="34" charset="0"/>
                <a:ea typeface="Calibri" pitchFamily="34" charset="-122"/>
                <a:cs typeface="Calibri" pitchFamily="34" charset="-120"/>
              </a:rPr>
              <a:t>Evidencia: prioridad alta; es el único motivo de salida significativo (4,6 % frente a 2,7 %).</a:t>
            </a:r>
            <a:endParaRPr lang="en-US" sz="1450" dirty="0"/>
          </a:p>
        </p:txBody>
      </p:sp>
      <p:sp>
        <p:nvSpPr>
          <p:cNvPr id="15" name="Text 12"/>
          <p:cNvSpPr txBox="1"/>
          <p:nvPr/>
        </p:nvSpPr>
        <p:spPr>
          <a:xfrm>
            <a:off x="4480560" y="4526280"/>
            <a:ext cx="3200400" cy="1280160"/>
          </a:xfrm>
          <a:prstGeom prst="rect">
            <a:avLst/>
          </a:prstGeom>
          <a:noFill/>
          <a:ln/>
        </p:spPr>
        <p:txBody>
          <a:bodyPr wrap="square" lIns="0" tIns="0" rIns="0" bIns="0" rtlCol="0" anchor="t"/>
          <a:lstStyle/>
          <a:p>
            <a:pPr indent="0" marL="0">
              <a:spcAft>
                <a:spcPts val="800"/>
              </a:spcAft>
              <a:buNone/>
            </a:pPr>
            <a:r>
              <a:rPr lang="en-US" sz="1450" b="1" dirty="0">
                <a:solidFill>
                  <a:srgbClr val="1F3A4D"/>
                </a:solidFill>
                <a:latin typeface="Calibri" pitchFamily="34" charset="0"/>
                <a:ea typeface="Calibri" pitchFamily="34" charset="-122"/>
                <a:cs typeface="Calibri" pitchFamily="34" charset="-120"/>
              </a:rPr>
              <a:t>Acción: analizar las herramientas y sistemas citados y priorizar mejoras en los equipos que más salidas tienen.</a:t>
            </a:r>
            <a:endParaRPr lang="en-US" sz="1450" dirty="0"/>
          </a:p>
        </p:txBody>
      </p:sp>
      <p:sp>
        <p:nvSpPr>
          <p:cNvPr id="16" name="Shape 13"/>
          <p:cNvSpPr/>
          <p:nvPr/>
        </p:nvSpPr>
        <p:spPr>
          <a:xfrm>
            <a:off x="8046720" y="1554480"/>
            <a:ext cx="3566160" cy="4389120"/>
          </a:xfrm>
          <a:prstGeom prst="roundRect">
            <a:avLst>
              <a:gd name="adj" fmla="val 2051"/>
            </a:avLst>
          </a:prstGeom>
          <a:solidFill>
            <a:srgbClr val="FFFFFF"/>
          </a:solidFill>
          <a:ln w="12700">
            <a:solidFill>
              <a:srgbClr val="C9DDE5"/>
            </a:solidFill>
            <a:prstDash val="solid"/>
          </a:ln>
        </p:spPr>
      </p:sp>
      <p:sp>
        <p:nvSpPr>
          <p:cNvPr id="17" name="Shape 14"/>
          <p:cNvSpPr/>
          <p:nvPr/>
        </p:nvSpPr>
        <p:spPr>
          <a:xfrm>
            <a:off x="8229600" y="1737360"/>
            <a:ext cx="548640" cy="548640"/>
          </a:xfrm>
          <a:prstGeom prst="ellipse">
            <a:avLst/>
          </a:prstGeom>
          <a:solidFill>
            <a:srgbClr val="2F7F9B"/>
          </a:solidFill>
          <a:ln w="12700">
            <a:solidFill>
              <a:srgbClr val="2F7F9B"/>
            </a:solidFill>
            <a:prstDash val="solid"/>
          </a:ln>
        </p:spPr>
      </p:sp>
      <p:sp>
        <p:nvSpPr>
          <p:cNvPr id="18" name="Text 15"/>
          <p:cNvSpPr txBox="1"/>
          <p:nvPr/>
        </p:nvSpPr>
        <p:spPr>
          <a:xfrm>
            <a:off x="8229600" y="1737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6"/>
          <p:cNvSpPr txBox="1"/>
          <p:nvPr/>
        </p:nvSpPr>
        <p:spPr>
          <a:xfrm>
            <a:off x="8229600" y="2423160"/>
            <a:ext cx="3200400" cy="731520"/>
          </a:xfrm>
          <a:prstGeom prst="rect">
            <a:avLst/>
          </a:prstGeom>
          <a:noFill/>
          <a:ln/>
        </p:spPr>
        <p:txBody>
          <a:bodyPr wrap="square" lIns="0" tIns="0" rIns="0" bIns="0" rtlCol="0" anchor="t"/>
          <a:lstStyle/>
          <a:p>
            <a:pPr indent="0" marL="0">
              <a:spcAft>
                <a:spcPts val="800"/>
              </a:spcAft>
              <a:buNone/>
            </a:pPr>
            <a:r>
              <a:rPr lang="en-US" sz="1900" b="1" dirty="0">
                <a:solidFill>
                  <a:srgbClr val="1F3A4D"/>
                </a:solidFill>
                <a:latin typeface="Calibri" pitchFamily="34" charset="0"/>
                <a:ea typeface="Calibri" pitchFamily="34" charset="-122"/>
                <a:cs typeface="Calibri" pitchFamily="34" charset="-120"/>
              </a:rPr>
              <a:t>Comunicar fortalezas y reforzar la marca</a:t>
            </a:r>
            <a:endParaRPr lang="en-US" sz="1900" dirty="0"/>
          </a:p>
        </p:txBody>
      </p:sp>
      <p:sp>
        <p:nvSpPr>
          <p:cNvPr id="20" name="Text 17"/>
          <p:cNvSpPr txBox="1"/>
          <p:nvPr/>
        </p:nvSpPr>
        <p:spPr>
          <a:xfrm>
            <a:off x="8229600" y="3200400"/>
            <a:ext cx="3200400" cy="1280160"/>
          </a:xfrm>
          <a:prstGeom prst="rect">
            <a:avLst/>
          </a:prstGeom>
          <a:noFill/>
          <a:ln/>
        </p:spPr>
        <p:txBody>
          <a:bodyPr wrap="square" lIns="0" tIns="0" rIns="0" bIns="0" rtlCol="0" anchor="t"/>
          <a:lstStyle/>
          <a:p>
            <a:pPr indent="0" marL="0">
              <a:spcAft>
                <a:spcPts val="800"/>
              </a:spcAft>
              <a:buNone/>
            </a:pPr>
            <a:r>
              <a:rPr lang="en-US" sz="1450" dirty="0">
                <a:solidFill>
                  <a:srgbClr val="33495A"/>
                </a:solidFill>
                <a:latin typeface="Calibri" pitchFamily="34" charset="0"/>
                <a:ea typeface="Calibri" pitchFamily="34" charset="-122"/>
                <a:cs typeface="Calibri" pitchFamily="34" charset="-120"/>
              </a:rPr>
              <a:t>Evidencia: ventaja en compensación (+4,3) y estabilidad (+1,9); desventaja en empresa y marca (−1,6).</a:t>
            </a:r>
            <a:endParaRPr lang="en-US" sz="1450" dirty="0"/>
          </a:p>
        </p:txBody>
      </p:sp>
      <p:sp>
        <p:nvSpPr>
          <p:cNvPr id="21" name="Text 18"/>
          <p:cNvSpPr txBox="1"/>
          <p:nvPr/>
        </p:nvSpPr>
        <p:spPr>
          <a:xfrm>
            <a:off x="8229600" y="4526280"/>
            <a:ext cx="3200400" cy="1280160"/>
          </a:xfrm>
          <a:prstGeom prst="rect">
            <a:avLst/>
          </a:prstGeom>
          <a:noFill/>
          <a:ln/>
        </p:spPr>
        <p:txBody>
          <a:bodyPr wrap="square" lIns="0" tIns="0" rIns="0" bIns="0" rtlCol="0" anchor="t"/>
          <a:lstStyle/>
          <a:p>
            <a:pPr indent="0" marL="0">
              <a:spcAft>
                <a:spcPts val="800"/>
              </a:spcAft>
              <a:buNone/>
            </a:pPr>
            <a:r>
              <a:rPr lang="en-US" sz="1450" b="1" dirty="0">
                <a:solidFill>
                  <a:srgbClr val="1F3A4D"/>
                </a:solidFill>
                <a:latin typeface="Calibri" pitchFamily="34" charset="0"/>
                <a:ea typeface="Calibri" pitchFamily="34" charset="-122"/>
                <a:cs typeface="Calibri" pitchFamily="34" charset="-120"/>
              </a:rPr>
              <a:t>Acción: usar estos mensajes en selección y employer branding y vigilar la percepción de empresa y marca.</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9692640" cy="914400"/>
          </a:xfrm>
          <a:prstGeom prst="rect">
            <a:avLst/>
          </a:prstGeom>
          <a:noFill/>
          <a:ln/>
        </p:spPr>
        <p:txBody>
          <a:bodyPr wrap="square" lIns="0" tIns="0" rIns="0" bIns="0" rtlCol="0" anchor="t"/>
          <a:lstStyle/>
          <a:p>
            <a:pPr indent="0" marL="0">
              <a:buNone/>
            </a:pPr>
            <a:r>
              <a:rPr lang="en-US" sz="2800" b="1" dirty="0">
                <a:solidFill>
                  <a:srgbClr val="1F3A4D"/>
                </a:solidFill>
                <a:latin typeface="Calibri" pitchFamily="34" charset="0"/>
                <a:ea typeface="Calibri" pitchFamily="34" charset="-122"/>
                <a:cs typeface="Calibri" pitchFamily="34" charset="-120"/>
              </a:rPr>
              <a:t>Las conclusiones tienen límites que conviene tener presentes</a:t>
            </a:r>
            <a:endParaRPr lang="en-US" sz="2800" dirty="0"/>
          </a:p>
        </p:txBody>
      </p:sp>
      <p:sp>
        <p:nvSpPr>
          <p:cNvPr id="4" name="Shape 1"/>
          <p:cNvSpPr/>
          <p:nvPr/>
        </p:nvSpPr>
        <p:spPr>
          <a:xfrm>
            <a:off x="548640" y="1554480"/>
            <a:ext cx="5394960" cy="4389120"/>
          </a:xfrm>
          <a:prstGeom prst="roundRect">
            <a:avLst>
              <a:gd name="adj" fmla="val 1667"/>
            </a:avLst>
          </a:prstGeom>
          <a:solidFill>
            <a:srgbClr val="FFFFFF"/>
          </a:solidFill>
          <a:ln w="12700">
            <a:solidFill>
              <a:srgbClr val="C9DDE5"/>
            </a:solidFill>
            <a:prstDash val="solid"/>
          </a:ln>
        </p:spPr>
      </p:sp>
      <p:sp>
        <p:nvSpPr>
          <p:cNvPr id="5" name="Shape 2"/>
          <p:cNvSpPr/>
          <p:nvPr/>
        </p:nvSpPr>
        <p:spPr>
          <a:xfrm>
            <a:off x="6217920" y="1554480"/>
            <a:ext cx="5394960" cy="4389120"/>
          </a:xfrm>
          <a:prstGeom prst="roundRect">
            <a:avLst>
              <a:gd name="adj" fmla="val 1667"/>
            </a:avLst>
          </a:prstGeom>
          <a:solidFill>
            <a:srgbClr val="FFFFFF"/>
          </a:solidFill>
          <a:ln w="12700">
            <a:solidFill>
              <a:srgbClr val="C9DDE5"/>
            </a:solidFill>
            <a:prstDash val="solid"/>
          </a:ln>
        </p:spPr>
      </p:sp>
      <p:sp>
        <p:nvSpPr>
          <p:cNvPr id="6" name="Text 3"/>
          <p:cNvSpPr txBox="1"/>
          <p:nvPr/>
        </p:nvSpPr>
        <p:spPr>
          <a:xfrm>
            <a:off x="777240" y="1737360"/>
            <a:ext cx="4937760" cy="365760"/>
          </a:xfrm>
          <a:prstGeom prst="rect">
            <a:avLst/>
          </a:prstGeom>
          <a:noFill/>
          <a:ln/>
        </p:spPr>
        <p:txBody>
          <a:bodyPr wrap="square" lIns="0" tIns="0" rIns="0" bIns="0" rtlCol="0" anchor="t"/>
          <a:lstStyle/>
          <a:p>
            <a:pPr indent="0" marL="0">
              <a:spcAft>
                <a:spcPts val="800"/>
              </a:spcAft>
              <a:buNone/>
            </a:pPr>
            <a:r>
              <a:rPr lang="en-US" sz="2000" b="1" dirty="0">
                <a:solidFill>
                  <a:srgbClr val="2F7F9B"/>
                </a:solidFill>
                <a:latin typeface="Calibri" pitchFamily="34" charset="0"/>
                <a:ea typeface="Calibri" pitchFamily="34" charset="-122"/>
                <a:cs typeface="Calibri" pitchFamily="34" charset="-120"/>
              </a:rPr>
              <a:t>Limitaciones</a:t>
            </a:r>
            <a:endParaRPr lang="en-US" sz="2000" dirty="0"/>
          </a:p>
        </p:txBody>
      </p:sp>
      <p:sp>
        <p:nvSpPr>
          <p:cNvPr id="7" name="Text 4"/>
          <p:cNvSpPr txBox="1"/>
          <p:nvPr/>
        </p:nvSpPr>
        <p:spPr>
          <a:xfrm>
            <a:off x="777240" y="2194560"/>
            <a:ext cx="4937760" cy="365760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rgbClr val="33495A"/>
                </a:solidFill>
                <a:latin typeface="Calibri" pitchFamily="34" charset="0"/>
                <a:ea typeface="Calibri" pitchFamily="34" charset="-122"/>
                <a:cs typeface="Calibri" pitchFamily="34" charset="-120"/>
              </a:rPr>
              <a:t>Muestra de 2.000 reseñas por empresa, no la población completa.</a:t>
            </a:r>
            <a:endParaRPr lang="en-US" sz="1550" dirty="0"/>
          </a:p>
          <a:p>
            <a:pPr marL="342900" indent="-342900">
              <a:spcAft>
                <a:spcPts val="800"/>
              </a:spcAft>
              <a:buSzPct val="100000"/>
              <a:buChar char="•"/>
            </a:pPr>
            <a:r>
              <a:rPr lang="en-US" sz="1550" dirty="0">
                <a:solidFill>
                  <a:srgbClr val="33495A"/>
                </a:solidFill>
                <a:latin typeface="Calibri" pitchFamily="34" charset="0"/>
                <a:ea typeface="Calibri" pitchFamily="34" charset="-122"/>
                <a:cs typeface="Calibri" pitchFamily="34" charset="-120"/>
              </a:rPr>
              <a:t>Las reseñas de Glassdoor son voluntarias, por lo que pueden sobrerrepresentar opiniones extremas.</a:t>
            </a:r>
            <a:endParaRPr lang="en-US" sz="1550" dirty="0"/>
          </a:p>
          <a:p>
            <a:pPr marL="342900" indent="-342900">
              <a:spcAft>
                <a:spcPts val="800"/>
              </a:spcAft>
              <a:buSzPct val="100000"/>
              <a:buChar char="•"/>
            </a:pPr>
            <a:r>
              <a:rPr lang="en-US" sz="1550" dirty="0">
                <a:solidFill>
                  <a:srgbClr val="33495A"/>
                </a:solidFill>
                <a:latin typeface="Calibri" pitchFamily="34" charset="0"/>
                <a:ea typeface="Calibri" pitchFamily="34" charset="-122"/>
                <a:cs typeface="Calibri" pitchFamily="34" charset="-120"/>
              </a:rPr>
              <a:t>El modelo de sentimiento es binario y no tiene categoría neutra.</a:t>
            </a:r>
            <a:endParaRPr lang="en-US" sz="1550" dirty="0"/>
          </a:p>
          <a:p>
            <a:pPr marL="342900" indent="-342900">
              <a:spcAft>
                <a:spcPts val="800"/>
              </a:spcAft>
              <a:buSzPct val="100000"/>
              <a:buChar char="•"/>
            </a:pPr>
            <a:r>
              <a:rPr lang="en-US" sz="1550" dirty="0">
                <a:solidFill>
                  <a:srgbClr val="33495A"/>
                </a:solidFill>
                <a:latin typeface="Calibri" pitchFamily="34" charset="0"/>
                <a:ea typeface="Calibri" pitchFamily="34" charset="-122"/>
                <a:cs typeface="Calibri" pitchFamily="34" charset="-120"/>
              </a:rPr>
              <a:t>Cerca del 27 % de las reseñas queda como outlier en los modelos de temas.</a:t>
            </a:r>
            <a:endParaRPr lang="en-US" sz="1550" dirty="0"/>
          </a:p>
          <a:p>
            <a:pPr marL="342900" indent="-342900">
              <a:spcAft>
                <a:spcPts val="800"/>
              </a:spcAft>
              <a:buSzPct val="100000"/>
              <a:buChar char="•"/>
            </a:pPr>
            <a:r>
              <a:rPr lang="en-US" sz="1550" dirty="0">
                <a:solidFill>
                  <a:srgbClr val="33495A"/>
                </a:solidFill>
                <a:latin typeface="Calibri" pitchFamily="34" charset="0"/>
                <a:ea typeface="Calibri" pitchFamily="34" charset="-122"/>
                <a:cs typeface="Calibri" pitchFamily="34" charset="-120"/>
              </a:rPr>
              <a:t>2018 y 2023 son años parciales.</a:t>
            </a:r>
            <a:endParaRPr lang="en-US" sz="1550" dirty="0"/>
          </a:p>
        </p:txBody>
      </p:sp>
      <p:sp>
        <p:nvSpPr>
          <p:cNvPr id="8" name="Text 5"/>
          <p:cNvSpPr txBox="1"/>
          <p:nvPr/>
        </p:nvSpPr>
        <p:spPr>
          <a:xfrm>
            <a:off x="6446520" y="1737360"/>
            <a:ext cx="4937760" cy="365760"/>
          </a:xfrm>
          <a:prstGeom prst="rect">
            <a:avLst/>
          </a:prstGeom>
          <a:noFill/>
          <a:ln/>
        </p:spPr>
        <p:txBody>
          <a:bodyPr wrap="square" lIns="0" tIns="0" rIns="0" bIns="0" rtlCol="0" anchor="t"/>
          <a:lstStyle/>
          <a:p>
            <a:pPr indent="0" marL="0">
              <a:spcAft>
                <a:spcPts val="800"/>
              </a:spcAft>
              <a:buNone/>
            </a:pPr>
            <a:r>
              <a:rPr lang="en-US" sz="2000" b="1" dirty="0">
                <a:solidFill>
                  <a:srgbClr val="2F7F9B"/>
                </a:solidFill>
                <a:latin typeface="Calibri" pitchFamily="34" charset="0"/>
                <a:ea typeface="Calibri" pitchFamily="34" charset="-122"/>
                <a:cs typeface="Calibri" pitchFamily="34" charset="-120"/>
              </a:rPr>
              <a:t>Próximos pasos</a:t>
            </a:r>
            <a:endParaRPr lang="en-US" sz="2000" dirty="0"/>
          </a:p>
        </p:txBody>
      </p:sp>
      <p:sp>
        <p:nvSpPr>
          <p:cNvPr id="9" name="Text 6"/>
          <p:cNvSpPr txBox="1"/>
          <p:nvPr/>
        </p:nvSpPr>
        <p:spPr>
          <a:xfrm>
            <a:off x="6446520" y="2194560"/>
            <a:ext cx="4937760" cy="365760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rgbClr val="33495A"/>
                </a:solidFill>
                <a:latin typeface="Calibri" pitchFamily="34" charset="0"/>
                <a:ea typeface="Calibri" pitchFamily="34" charset="-122"/>
                <a:cs typeface="Calibri" pitchFamily="34" charset="-120"/>
              </a:rPr>
              <a:t>Contrastar los resultados con encuestas internas de clima.</a:t>
            </a:r>
            <a:endParaRPr lang="en-US" sz="1550" dirty="0"/>
          </a:p>
          <a:p>
            <a:pPr marL="342900" indent="-342900">
              <a:spcAft>
                <a:spcPts val="800"/>
              </a:spcAft>
              <a:buSzPct val="100000"/>
              <a:buChar char="•"/>
            </a:pPr>
            <a:r>
              <a:rPr lang="en-US" sz="1550" dirty="0">
                <a:solidFill>
                  <a:srgbClr val="33495A"/>
                </a:solidFill>
                <a:latin typeface="Calibri" pitchFamily="34" charset="0"/>
                <a:ea typeface="Calibri" pitchFamily="34" charset="-122"/>
                <a:cs typeface="Calibri" pitchFamily="34" charset="-120"/>
              </a:rPr>
              <a:t>Ampliar la muestra y añadir otras fuentes de opinión.</a:t>
            </a:r>
            <a:endParaRPr lang="en-US" sz="1550" dirty="0"/>
          </a:p>
          <a:p>
            <a:pPr marL="342900" indent="-342900">
              <a:spcAft>
                <a:spcPts val="800"/>
              </a:spcAft>
              <a:buSzPct val="100000"/>
              <a:buChar char="•"/>
            </a:pPr>
            <a:r>
              <a:rPr lang="en-US" sz="1550" dirty="0">
                <a:solidFill>
                  <a:srgbClr val="33495A"/>
                </a:solidFill>
                <a:latin typeface="Calibri" pitchFamily="34" charset="0"/>
                <a:ea typeface="Calibri" pitchFamily="34" charset="-122"/>
                <a:cs typeface="Calibri" pitchFamily="34" charset="-120"/>
              </a:rPr>
              <a:t>Repetir el análisis cada año para seguir la ventaja en valoración y la evolución de cultura y tecnología.</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731520" y="1280160"/>
            <a:ext cx="7863840" cy="640080"/>
          </a:xfrm>
          <a:prstGeom prst="rect">
            <a:avLst/>
          </a:prstGeom>
          <a:noFill/>
          <a:ln/>
        </p:spPr>
        <p:txBody>
          <a:bodyPr wrap="square" lIns="0" tIns="0" rIns="0" bIns="0" rtlCol="0" anchor="t"/>
          <a:lstStyle/>
          <a:p>
            <a:pPr indent="0" marL="0">
              <a:spcAft>
                <a:spcPts val="800"/>
              </a:spcAft>
              <a:buNone/>
            </a:pPr>
            <a:r>
              <a:rPr lang="en-US" sz="3400" b="1" dirty="0">
                <a:solidFill>
                  <a:srgbClr val="1F3A4D"/>
                </a:solidFill>
                <a:latin typeface="Calibri" pitchFamily="34" charset="0"/>
                <a:ea typeface="Calibri" pitchFamily="34" charset="-122"/>
                <a:cs typeface="Calibri" pitchFamily="34" charset="-120"/>
              </a:rPr>
              <a:t>En resumen</a:t>
            </a:r>
            <a:endParaRPr lang="en-US" sz="3400" dirty="0"/>
          </a:p>
        </p:txBody>
      </p:sp>
      <p:sp>
        <p:nvSpPr>
          <p:cNvPr id="4" name="Text 1"/>
          <p:cNvSpPr txBox="1"/>
          <p:nvPr/>
        </p:nvSpPr>
        <p:spPr>
          <a:xfrm>
            <a:off x="731520" y="2286000"/>
            <a:ext cx="76809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33495A"/>
                </a:solidFill>
                <a:latin typeface="Calibri" pitchFamily="34" charset="0"/>
                <a:ea typeface="Calibri" pitchFamily="34" charset="-122"/>
                <a:cs typeface="Calibri" pitchFamily="34" charset="-120"/>
              </a:rPr>
              <a:t>Barclays es el banco mejor valorado del grupo (3,89), con ventajas claras en compensación y estabilidad.</a:t>
            </a:r>
            <a:endParaRPr lang="en-US" sz="2000" dirty="0"/>
          </a:p>
          <a:p>
            <a:pPr marL="342900" indent="-342900">
              <a:spcAft>
                <a:spcPts val="1400"/>
              </a:spcAft>
              <a:buSzPct val="100000"/>
              <a:buChar char="•"/>
            </a:pPr>
            <a:r>
              <a:rPr lang="en-US" sz="2000" dirty="0">
                <a:solidFill>
                  <a:srgbClr val="33495A"/>
                </a:solidFill>
                <a:latin typeface="Calibri" pitchFamily="34" charset="0"/>
                <a:ea typeface="Calibri" pitchFamily="34" charset="-122"/>
                <a:cs typeface="Calibri" pitchFamily="34" charset="-120"/>
              </a:rPr>
              <a:t>La ventaja en valoración se estrecha, y cultura y tecnología son los frentes a corregir.</a:t>
            </a:r>
            <a:endParaRPr lang="en-US" sz="2000" dirty="0"/>
          </a:p>
          <a:p>
            <a:pPr marL="342900" indent="-342900">
              <a:spcAft>
                <a:spcPts val="1400"/>
              </a:spcAft>
              <a:buSzPct val="100000"/>
              <a:buChar char="•"/>
            </a:pPr>
            <a:r>
              <a:rPr lang="en-US" sz="2000" dirty="0">
                <a:solidFill>
                  <a:srgbClr val="33495A"/>
                </a:solidFill>
                <a:latin typeface="Calibri" pitchFamily="34" charset="0"/>
                <a:ea typeface="Calibri" pitchFamily="34" charset="-122"/>
                <a:cs typeface="Calibri" pitchFamily="34" charset="-120"/>
              </a:rPr>
              <a:t>Proteger y comunicar lo que funciona, y concretar con datos internos lo que falla.</a:t>
            </a:r>
            <a:endParaRPr lang="en-US" sz="2000" dirty="0"/>
          </a:p>
        </p:txBody>
      </p:sp>
      <p:sp>
        <p:nvSpPr>
          <p:cNvPr id="5" name="Text 2"/>
          <p:cNvSpPr txBox="1"/>
          <p:nvPr/>
        </p:nvSpPr>
        <p:spPr>
          <a:xfrm>
            <a:off x="731520" y="5303520"/>
            <a:ext cx="4572000" cy="640080"/>
          </a:xfrm>
          <a:prstGeom prst="rect">
            <a:avLst/>
          </a:prstGeom>
          <a:noFill/>
          <a:ln/>
        </p:spPr>
        <p:txBody>
          <a:bodyPr wrap="square" lIns="0" tIns="0" rIns="0" bIns="0" rtlCol="0" anchor="t"/>
          <a:lstStyle/>
          <a:p>
            <a:pPr indent="0" marL="0">
              <a:spcAft>
                <a:spcPts val="800"/>
              </a:spcAft>
              <a:buNone/>
            </a:pPr>
            <a:r>
              <a:rPr lang="en-US" sz="2600" b="1" dirty="0">
                <a:solidFill>
                  <a:srgbClr val="2F7F9B"/>
                </a:solidFill>
                <a:latin typeface="Calibri" pitchFamily="34" charset="0"/>
                <a:ea typeface="Calibri" pitchFamily="34" charset="-122"/>
                <a:cs typeface="Calibri" pitchFamily="34" charset="-120"/>
              </a:rPr>
              <a:t>Gracias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Diagnóstico de marca empleadora – Barclays</dc:title>
  <dc:subject>PptxGenJS Presentation</dc:subject>
  <dc:creator>Marta Parás Gutiérrez</dc:creator>
  <cp:lastModifiedBy>Marta Parás Gutiérrez</cp:lastModifiedBy>
  <cp:revision>1</cp:revision>
  <dcterms:created xsi:type="dcterms:W3CDTF">2026-10-09T08:14:05Z</dcterms:created>
  <dcterms:modified xsi:type="dcterms:W3CDTF">2026-10-09T08:14:05Z</dcterms:modified>
</cp:coreProperties>
</file>